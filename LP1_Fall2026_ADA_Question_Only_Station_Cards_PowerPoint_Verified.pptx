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6FCF564-F34E-4596-B5F0-ED22ACD8DBB6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9D0C3F-8FA9-4766-AE67-6FE699BF5A15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FCAAF0-9D60-4B74-BF2D-77AFDE5357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551DDC-6AD8-4A20-9310-6D7859A5E551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Which regional term matches the pointer numbered 1?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6CEBDB-8D5F-48A5-AE0F-496DEB42959C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plantar     B. palmar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74EB6C-51BC-49D3-9D0D-0F07CC490915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antebrachial     D. carpal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7C01442-6BCF-4989-B560-F73CE713C0E4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EF93A2-A43B-4C64-8EF1-C937E91CCB8E}"/>
              </a:ext>
            </a:extLst>
          </p:cNvPr>
          <p:cNvSpPr>
            <a:spLocks noGrp="1"/>
          </p:cNvSpPr>
          <p:nvPr/>
        </p:nvSpPr>
        <p:spPr>
          <a:xfrm>
            <a:off x="64008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The line at label 2 ends in which anatomical region?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6C37B8-E756-4565-A76C-6090AA7BDC4C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otic     B. nasal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3FD7AB-AA29-4BCE-B4F0-DC012CF1E404}"/>
              </a:ext>
            </a:extLst>
          </p:cNvPr>
          <p:cNvSpPr>
            <a:spLocks noGrp="1"/>
          </p:cNvSpPr>
          <p:nvPr/>
        </p:nvSpPr>
        <p:spPr>
          <a:xfrm>
            <a:off x="65722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buccal     D. orbital/optic/ocular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5985E2D-8D1C-4A8E-9E63-77A1BBCA849A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6F648-7DD5-4B53-AC96-0BB213CD389D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Select the correct name for the body region indicated by 3.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448DBF-200F-433E-BFAA-40B0058B7D2B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sural     B. femoral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4BB027-49DE-4407-A255-36DB0F42AC22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brachial     D. cephalic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BB1C0C0-1373-4F48-BD4F-D5C0413C7E40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F8C5D1-0C77-496B-B8A8-1B9E7F66DBB0}"/>
              </a:ext>
            </a:extLst>
          </p:cNvPr>
          <p:cNvSpPr>
            <a:spLocks noGrp="1"/>
          </p:cNvSpPr>
          <p:nvPr/>
        </p:nvSpPr>
        <p:spPr>
          <a:xfrm>
            <a:off x="64008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4. What regional descriptor belongs at the location marked 4?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351264-7124-4A04-BA3E-AC191B325B7F}"/>
              </a:ext>
            </a:extLst>
          </p:cNvPr>
          <p:cNvSpPr>
            <a:spLocks noGrp="1"/>
          </p:cNvSpPr>
          <p:nvPr/>
        </p:nvSpPr>
        <p:spPr>
          <a:xfrm>
            <a:off x="65722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crural     B. digital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29AB5D-2DAB-4733-82C6-EBD702D968F7}"/>
              </a:ext>
            </a:extLst>
          </p:cNvPr>
          <p:cNvSpPr>
            <a:spLocks noGrp="1"/>
          </p:cNvSpPr>
          <p:nvPr/>
        </p:nvSpPr>
        <p:spPr>
          <a:xfrm>
            <a:off x="65722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patellar     D. tarsal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234CC9-7E77-46EC-8750-54EC43AB87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station-1-question-card-1">
            <a:extLst>
              <a:ext uri="{FF2B5EF4-FFF2-40B4-BE49-F238E27FC236}">
                <a16:creationId xmlns:a16="http://schemas.microsoft.com/office/drawing/2014/main" id="{558D28C4-BF91-49B0-AF69-E6AF6488A53F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3600"/>
          </a:p>
        </p:txBody>
      </p:sp>
      <p:sp>
        <p:nvSpPr>
          <p:cNvPr id="22" name="station-1-question-card-2">
            <a:extLst>
              <a:ext uri="{FF2B5EF4-FFF2-40B4-BE49-F238E27FC236}">
                <a16:creationId xmlns:a16="http://schemas.microsoft.com/office/drawing/2014/main" id="{2BA2C580-DDCB-4BF9-94CD-A6813C7FB6B2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3600"/>
          </a:p>
        </p:txBody>
      </p:sp>
      <p:sp>
        <p:nvSpPr>
          <p:cNvPr id="23" name="station-1-question-card-3">
            <a:extLst>
              <a:ext uri="{FF2B5EF4-FFF2-40B4-BE49-F238E27FC236}">
                <a16:creationId xmlns:a16="http://schemas.microsoft.com/office/drawing/2014/main" id="{762B0AA1-E5CD-49D0-AFD2-E3FDE0885CF9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3600"/>
          </a:p>
        </p:txBody>
      </p:sp>
      <p:sp>
        <p:nvSpPr>
          <p:cNvPr id="24" name="station-1-question-card-4">
            <a:extLst>
              <a:ext uri="{FF2B5EF4-FFF2-40B4-BE49-F238E27FC236}">
                <a16:creationId xmlns:a16="http://schemas.microsoft.com/office/drawing/2014/main" id="{B0915201-5C26-4F65-B882-A1D525C6BD54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16421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1E75B01-DA5A-402C-8339-7F22FA5077D4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5AF86B-27C3-483D-B9A2-C830F5EAD03F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B1CCD0-5F8D-4351-8F1E-8A83C9110E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6FA6BF-B2FC-4AC5-AD79-8D65B2C4522D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5. At this station, label 5 identifies the ____ region.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A6385C-ADB9-4409-9831-420A6E621312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popliteal     B. femoral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C6A916-9DDB-4533-A7BD-435D071FA263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gluteal     D. sacral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DEA10CB-E28B-4EDD-A911-C87F0B216789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0C7C59-B78E-4027-ACA0-94B7BD6197C1}"/>
              </a:ext>
            </a:extLst>
          </p:cNvPr>
          <p:cNvSpPr>
            <a:spLocks noGrp="1"/>
          </p:cNvSpPr>
          <p:nvPr/>
        </p:nvSpPr>
        <p:spPr>
          <a:xfrm>
            <a:off x="64008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6. Which regional term matches the pointer numbered 6?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0BB85-059B-49C7-A7EA-CC12F6AEC2CF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mental     B. axillary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373ABD-B502-4971-8C0A-2852EFD4F2DE}"/>
              </a:ext>
            </a:extLst>
          </p:cNvPr>
          <p:cNvSpPr>
            <a:spLocks noGrp="1"/>
          </p:cNvSpPr>
          <p:nvPr/>
        </p:nvSpPr>
        <p:spPr>
          <a:xfrm>
            <a:off x="65722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costal     D. frontal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6003A931-A079-49D9-9D5E-6541B594397B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1AEBBD-498A-4268-82D2-9DF16694D3D9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7. The line at label 7 ends in which anatomical region?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36EFC5-9D8B-4275-86B6-2213B84E63F2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sternal     B. vertebral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CE1FFB-D461-4ECB-A891-5AF340AC445F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cervical     D. occipital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32D0439-DC63-4747-9EF9-4054399C2EE9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1BEB27-BFE9-4560-90BD-C3D4553FB5C0}"/>
              </a:ext>
            </a:extLst>
          </p:cNvPr>
          <p:cNvSpPr>
            <a:spLocks noGrp="1"/>
          </p:cNvSpPr>
          <p:nvPr/>
        </p:nvSpPr>
        <p:spPr>
          <a:xfrm>
            <a:off x="64008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8. Select the correct name for the body region indicated by 8.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C1D16C-EC64-4CD1-BF7A-4E960C4F0CB8}"/>
              </a:ext>
            </a:extLst>
          </p:cNvPr>
          <p:cNvSpPr>
            <a:spLocks noGrp="1"/>
          </p:cNvSpPr>
          <p:nvPr/>
        </p:nvSpPr>
        <p:spPr>
          <a:xfrm>
            <a:off x="65722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antebrachial     B. brachial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2DE64-FDE2-4A79-BAC2-CBE7B1CF23E5}"/>
              </a:ext>
            </a:extLst>
          </p:cNvPr>
          <p:cNvSpPr>
            <a:spLocks noGrp="1"/>
          </p:cNvSpPr>
          <p:nvPr/>
        </p:nvSpPr>
        <p:spPr>
          <a:xfrm>
            <a:off x="65722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antecubital     D. acromial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A21B28-404C-4E59-A6CB-C7319C2DE2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station-2-question-card-1">
            <a:extLst>
              <a:ext uri="{FF2B5EF4-FFF2-40B4-BE49-F238E27FC236}">
                <a16:creationId xmlns:a16="http://schemas.microsoft.com/office/drawing/2014/main" id="{70F76D7A-05D5-431F-9953-5A66DA0B71D7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2" name="station-2-question-card-2">
            <a:extLst>
              <a:ext uri="{FF2B5EF4-FFF2-40B4-BE49-F238E27FC236}">
                <a16:creationId xmlns:a16="http://schemas.microsoft.com/office/drawing/2014/main" id="{C5DC9ECF-A0E3-45AE-A358-8F8AF84EA375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3" name="station-2-question-card-3">
            <a:extLst>
              <a:ext uri="{FF2B5EF4-FFF2-40B4-BE49-F238E27FC236}">
                <a16:creationId xmlns:a16="http://schemas.microsoft.com/office/drawing/2014/main" id="{D48FE09C-B71C-448E-99AF-C4CF837FF6C2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4" name="station-2-question-card-4">
            <a:extLst>
              <a:ext uri="{FF2B5EF4-FFF2-40B4-BE49-F238E27FC236}">
                <a16:creationId xmlns:a16="http://schemas.microsoft.com/office/drawing/2014/main" id="{CF531643-6535-48D8-B02B-B290400B49DD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7454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D941442-D390-4F84-AFAC-14C38A0BFE8E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96CC81-F884-4621-85B3-FE9753DC392F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67B9CF-FB33-4A52-B76B-605D431FCA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2454A2-1AB2-4BDE-9FA2-D9FC6E96B38C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9. What regional descriptor belongs at the location marked 9?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08B324-5F71-48AE-84C2-EF8BAC742050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sural     B. femoral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D16654-9688-4D56-9195-096E4A054873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patellar     D. crural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A78D874-146A-41ED-A420-4AD41F059DB2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3497BE-0C40-4DEC-88C9-04413B6BE1D1}"/>
              </a:ext>
            </a:extLst>
          </p:cNvPr>
          <p:cNvSpPr>
            <a:spLocks noGrp="1"/>
          </p:cNvSpPr>
          <p:nvPr/>
        </p:nvSpPr>
        <p:spPr>
          <a:xfrm>
            <a:off x="64008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10. At this station, label 10 identifies the ____ region.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FBCFD4-C972-4DF1-B49F-7ED19F68ADCE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perineal     B. genital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9E8C8F-DB96-4AB9-9C72-39F624241A7C}"/>
              </a:ext>
            </a:extLst>
          </p:cNvPr>
          <p:cNvSpPr>
            <a:spLocks noGrp="1"/>
          </p:cNvSpPr>
          <p:nvPr/>
        </p:nvSpPr>
        <p:spPr>
          <a:xfrm>
            <a:off x="65722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inguinal     D. coxal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4C25AA6-AB42-45F5-8AA8-3511DFF474D8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DD06A7-CC1A-4FF7-801D-FF0D9E823061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11. Which regional term matches the pointer numbered 11?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C2F7F8-A0D7-46F5-9440-7AD22A525FAD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carpal     B. pedal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F481BD-F341-412D-B702-7E74EE63080A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tarsal     D. digital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BA43EF96-C1ED-4F73-994B-C17130889CEB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B10DFA-AC83-4977-B8C3-0967EED65F15}"/>
              </a:ext>
            </a:extLst>
          </p:cNvPr>
          <p:cNvSpPr>
            <a:spLocks noGrp="1"/>
          </p:cNvSpPr>
          <p:nvPr/>
        </p:nvSpPr>
        <p:spPr>
          <a:xfrm>
            <a:off x="64008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12. The line at label 12 ends in which anatomical region?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D9BD83-482E-4221-BDDD-BD1EAEF57B3E}"/>
              </a:ext>
            </a:extLst>
          </p:cNvPr>
          <p:cNvSpPr>
            <a:spLocks noGrp="1"/>
          </p:cNvSpPr>
          <p:nvPr/>
        </p:nvSpPr>
        <p:spPr>
          <a:xfrm>
            <a:off x="65722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frontal     B. cervical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C55E54-3378-4B20-A66D-80DC77096E7B}"/>
              </a:ext>
            </a:extLst>
          </p:cNvPr>
          <p:cNvSpPr>
            <a:spLocks noGrp="1"/>
          </p:cNvSpPr>
          <p:nvPr/>
        </p:nvSpPr>
        <p:spPr>
          <a:xfrm>
            <a:off x="65722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cephalic     D. occipital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CDA1A3-A737-425A-A000-AF7DD73F4D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station-3-question-card-1">
            <a:extLst>
              <a:ext uri="{FF2B5EF4-FFF2-40B4-BE49-F238E27FC236}">
                <a16:creationId xmlns:a16="http://schemas.microsoft.com/office/drawing/2014/main" id="{8D5C2F68-0ACC-4CB8-8A66-9C5B321EDD56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2" name="station-3-question-card-2">
            <a:extLst>
              <a:ext uri="{FF2B5EF4-FFF2-40B4-BE49-F238E27FC236}">
                <a16:creationId xmlns:a16="http://schemas.microsoft.com/office/drawing/2014/main" id="{7AB7BE7F-2631-4EB5-823A-3B2348537EAF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3" name="station-3-question-card-3">
            <a:extLst>
              <a:ext uri="{FF2B5EF4-FFF2-40B4-BE49-F238E27FC236}">
                <a16:creationId xmlns:a16="http://schemas.microsoft.com/office/drawing/2014/main" id="{AD59807C-7E1C-42DB-B9D7-3767549D3A92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4" name="station-3-question-card-4">
            <a:extLst>
              <a:ext uri="{FF2B5EF4-FFF2-40B4-BE49-F238E27FC236}">
                <a16:creationId xmlns:a16="http://schemas.microsoft.com/office/drawing/2014/main" id="{45C36CA6-2741-4F49-B5FF-170E13AA6C34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56380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A66F4EB-923A-46F8-89EC-534C29483C1E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CBF500-B0A7-4322-85BE-80D02B571C45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243BCE-30AF-426D-89BC-B826F3E39D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C2FB9F-8FD0-4905-B2DA-74DB0A79AE0F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13. Select the correct name for the body region indicated by 13.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3B35A0-5C43-4005-B187-A71CF4E70CC1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tarsal     B. digital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08ED4C-E138-4088-9637-12C65609FE86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carpal     D. pedal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6296CB0-FDAD-4F74-B4C5-269850D199B6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66B34E-8957-4B76-BBEE-0883B98D13EE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14. What regional descriptor belongs at the location marked 14?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C451A3-12D8-48A8-9543-50D889005968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vertebral     B. dorsal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63954C-F6EC-4EDE-B15C-5B567F1283EC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sacral     D. lumbar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B27D7848-51E6-4AE9-982C-E43F9EF585FE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A8A73B-9789-47E9-A6C4-2EA72F02BD19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15. At this station, label 15 identifies the ____ region.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0C0E56-3AE7-47A9-AC2B-74E2EB1DED55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buccal     B. oral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9432A-F424-428E-AB8F-94FB7675291D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nasal     D. mental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18C06-09FE-4ED0-A661-69E267DC23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7" name="station-4-question-card-1">
            <a:extLst>
              <a:ext uri="{FF2B5EF4-FFF2-40B4-BE49-F238E27FC236}">
                <a16:creationId xmlns:a16="http://schemas.microsoft.com/office/drawing/2014/main" id="{28F48EE6-ABB2-4C46-B873-F01B4D15AE02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8" name="station-4-question-card-2">
            <a:extLst>
              <a:ext uri="{FF2B5EF4-FFF2-40B4-BE49-F238E27FC236}">
                <a16:creationId xmlns:a16="http://schemas.microsoft.com/office/drawing/2014/main" id="{28F811E9-F991-4174-8FAC-27D737BD67F4}"/>
              </a:ext>
            </a:extLst>
          </p:cNvPr>
          <p:cNvSpPr>
            <a:spLocks noGrp="1"/>
          </p:cNvSpPr>
          <p:nvPr/>
        </p:nvSpPr>
        <p:spPr>
          <a:xfrm>
            <a:off x="533400" y="306705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9" name="station-4-question-card-3">
            <a:extLst>
              <a:ext uri="{FF2B5EF4-FFF2-40B4-BE49-F238E27FC236}">
                <a16:creationId xmlns:a16="http://schemas.microsoft.com/office/drawing/2014/main" id="{80F63428-F57A-48CD-8BB2-189E6D5BD00A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13160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696B5BB-C92F-4713-BCE0-71AD32D3F5A0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120BEE-34F0-484E-AC8D-3CE8CBBC9BDC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F034BF-6509-441D-9C34-126F8CF661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9234BC-6FD8-4D39-9749-46C70671F6D8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16. Which organ is protected inside the cavity marked 16?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1A9479-5F64-474D-9247-C6F2382FF03D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heart     B. brain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CA039C-81AE-4FE0-BED3-6803202AF20E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spinal cord     D. lung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0E92A1E-CA49-4DE5-BECE-23CFD3A51843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0C5BB3-0B14-4095-8EB9-B6E806FE80A5}"/>
              </a:ext>
            </a:extLst>
          </p:cNvPr>
          <p:cNvSpPr>
            <a:spLocks noGrp="1"/>
          </p:cNvSpPr>
          <p:nvPr/>
        </p:nvSpPr>
        <p:spPr>
          <a:xfrm>
            <a:off x="64008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17. The compartment at label 17 surrounds which organ?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AA9E56-8281-4B2B-A11D-939B29291A8F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left lung     B. heart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D74DBA-4C1A-443A-AB64-00AD4E5A3805}"/>
              </a:ext>
            </a:extLst>
          </p:cNvPr>
          <p:cNvSpPr>
            <a:spLocks noGrp="1"/>
          </p:cNvSpPr>
          <p:nvPr/>
        </p:nvSpPr>
        <p:spPr>
          <a:xfrm>
            <a:off x="65722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liver     D. spinal cord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4B52A57-D861-4A79-ADD1-47A74BBB5A5B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41E92F-8104-4E51-96DA-2AE8B217E216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18. Which organ occupies the serous space indicated by number 18?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139D47-6F11-4007-A741-CA42C5C3DC3E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lung     B. brain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44EA56-471B-4717-A95B-067814C21777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kidney     D. urinary bladder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5555B3D5-F00E-4AD9-A349-FB32D69DA7C1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AA0786-4ADA-429A-9D11-896ED9B4AA91}"/>
              </a:ext>
            </a:extLst>
          </p:cNvPr>
          <p:cNvSpPr>
            <a:spLocks noGrp="1"/>
          </p:cNvSpPr>
          <p:nvPr/>
        </p:nvSpPr>
        <p:spPr>
          <a:xfrm>
            <a:off x="64008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19. Label 19 protects which part of the central nervous system?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FD4A8C-2EC3-4442-88DE-F0D7FB695794}"/>
              </a:ext>
            </a:extLst>
          </p:cNvPr>
          <p:cNvSpPr>
            <a:spLocks noGrp="1"/>
          </p:cNvSpPr>
          <p:nvPr/>
        </p:nvSpPr>
        <p:spPr>
          <a:xfrm>
            <a:off x="65722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thyroid gland     B. stomach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499780-001A-45A1-86D3-1145CC4A6D7E}"/>
              </a:ext>
            </a:extLst>
          </p:cNvPr>
          <p:cNvSpPr>
            <a:spLocks noGrp="1"/>
          </p:cNvSpPr>
          <p:nvPr/>
        </p:nvSpPr>
        <p:spPr>
          <a:xfrm>
            <a:off x="65722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heart     D. spinal cord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D64F5-6603-47B7-9D3B-19BF0A24B2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station-5-question-card-1">
            <a:extLst>
              <a:ext uri="{FF2B5EF4-FFF2-40B4-BE49-F238E27FC236}">
                <a16:creationId xmlns:a16="http://schemas.microsoft.com/office/drawing/2014/main" id="{8CEDFBAF-85D0-4536-826C-151ED7A08D7A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2" name="station-5-question-card-2">
            <a:extLst>
              <a:ext uri="{FF2B5EF4-FFF2-40B4-BE49-F238E27FC236}">
                <a16:creationId xmlns:a16="http://schemas.microsoft.com/office/drawing/2014/main" id="{1150243B-A168-46EE-90CC-BBAEBA77047C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3" name="station-5-question-card-3">
            <a:extLst>
              <a:ext uri="{FF2B5EF4-FFF2-40B4-BE49-F238E27FC236}">
                <a16:creationId xmlns:a16="http://schemas.microsoft.com/office/drawing/2014/main" id="{9498616C-C5D0-4AD2-9A0D-A94C46CE0EB7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4" name="station-5-question-card-4">
            <a:extLst>
              <a:ext uri="{FF2B5EF4-FFF2-40B4-BE49-F238E27FC236}">
                <a16:creationId xmlns:a16="http://schemas.microsoft.com/office/drawing/2014/main" id="{6C1D18F2-CF45-4CD5-BC22-9C68947F1D66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5153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A3CB31-1F95-43BD-8C6E-C87322B030BE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B7AD90-820F-4CBE-982C-51C6496E51AF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6EA6D-D507-4403-8C18-F95B0AAAAD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A68BD-6D62-4521-9944-25D218E847F9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20. Which organ would normally be found in the space indicated by label 20?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7D0638-7FF6-4638-BEB4-5DA1F937ABB9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heart     B. urinary bladder (pelvic cavity)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35CF8B-0145-4A49-99CF-BF8851F59F1C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brain     D. trachea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53CFA6C-0070-4FB0-86A9-B000E5FC3F2E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9BA05-6245-4EE7-BB14-235839CF25AA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21. The passage at label 21 contains receptors for which special sense structure?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0DD8FA-5DDF-46D4-8B10-278CC2CEF4C2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olfactory receptors     B. retina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E7058E-7150-4AF2-AE35-A9F61474EDED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taste buds     D. auditory ossicles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85DFE1DB-0D52-439F-BD27-A375E8300B57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DBF988-5727-4964-8D5E-F29ED7495D10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22. Which organ is located in the compartment identified by number 22?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59BF2D-331D-4E21-A220-A354EE56AFBA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brain     B. stomach (abdominal cavity)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F80D93-7AF1-40C1-954E-9340C5C5E723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urinary bladder     D. heart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5E8BC6-1C88-4173-BE6D-D870F58EE3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7" name="station-6-question-card-1">
            <a:extLst>
              <a:ext uri="{FF2B5EF4-FFF2-40B4-BE49-F238E27FC236}">
                <a16:creationId xmlns:a16="http://schemas.microsoft.com/office/drawing/2014/main" id="{C7A48417-9172-43AC-A9D7-A6059E5A67DA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8" name="station-6-question-card-2">
            <a:extLst>
              <a:ext uri="{FF2B5EF4-FFF2-40B4-BE49-F238E27FC236}">
                <a16:creationId xmlns:a16="http://schemas.microsoft.com/office/drawing/2014/main" id="{E1979737-BB3E-4161-A7B2-0C4EA345BE72}"/>
              </a:ext>
            </a:extLst>
          </p:cNvPr>
          <p:cNvSpPr>
            <a:spLocks noGrp="1"/>
          </p:cNvSpPr>
          <p:nvPr/>
        </p:nvSpPr>
        <p:spPr>
          <a:xfrm>
            <a:off x="533400" y="306705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9" name="station-6-question-card-3">
            <a:extLst>
              <a:ext uri="{FF2B5EF4-FFF2-40B4-BE49-F238E27FC236}">
                <a16:creationId xmlns:a16="http://schemas.microsoft.com/office/drawing/2014/main" id="{DD214B60-08FF-4695-B2EF-38D8C5E7EEE6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53046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CAD3A97-FB82-4656-8505-E10CB31034EB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B6DBBA-857A-4486-958F-2465ECBC63B7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FC0D92-BA47-4DF5-B300-73DD11162D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2EA1C7-BAE4-443E-A994-EF0313A54409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23. An inflamed appendix would most commonly produce pain in the quadrant marked 23. Which organ is involved?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29E698-9A8D-46F5-99F4-7E6FE0495D7E}"/>
              </a:ext>
            </a:extLst>
          </p:cNvPr>
          <p:cNvSpPr>
            <a:spLocks noGrp="1"/>
          </p:cNvSpPr>
          <p:nvPr/>
        </p:nvSpPr>
        <p:spPr>
          <a:xfrm>
            <a:off x="895350" y="23431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stomach     B. spleen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8D9A46-0B44-4C88-BA8F-6A8D077A87DA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appendix (right lower quadrant)     D. gallbladder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340C54B-EE33-4A92-B747-5AB8B37B9387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D32C5D-D68B-42EE-BD3B-8BAB5F66C03C}"/>
              </a:ext>
            </a:extLst>
          </p:cNvPr>
          <p:cNvSpPr>
            <a:spLocks noGrp="1"/>
          </p:cNvSpPr>
          <p:nvPr/>
        </p:nvSpPr>
        <p:spPr>
          <a:xfrm>
            <a:off x="6400800" y="15049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24. Which organ segment is most associated with the lower-left quadrant indicated by label 24?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5E531C-EDF8-44F2-824F-71976923B003}"/>
              </a:ext>
            </a:extLst>
          </p:cNvPr>
          <p:cNvSpPr>
            <a:spLocks noGrp="1"/>
          </p:cNvSpPr>
          <p:nvPr/>
        </p:nvSpPr>
        <p:spPr>
          <a:xfrm>
            <a:off x="6572250" y="23431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appendix     B. sigmoid colon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A4A226-5AA7-4DBD-9A71-BFCB98AE80ED}"/>
              </a:ext>
            </a:extLst>
          </p:cNvPr>
          <p:cNvSpPr>
            <a:spLocks noGrp="1"/>
          </p:cNvSpPr>
          <p:nvPr/>
        </p:nvSpPr>
        <p:spPr>
          <a:xfrm>
            <a:off x="6572250" y="2667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liver     D. gallbladder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DCC618C-E78B-4878-ACD3-CA72A6E8F860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1752D4-FC4E-4154-AE33-7F02DA58BAEB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25. The organ most associated with the quadrant at number 25 is the: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206FA8-3BFB-4965-89CB-6F6D8192B9CF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liver (right upper quadrant)     B. spleen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33B0B8-51AE-43CD-8EE3-ACC4A7C0E6A8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appendix     D. sigmoid colon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6566DB8D-E737-4902-85D9-DCC0517A2151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3A2237-FD88-447A-90F7-3784E0E58A0D}"/>
              </a:ext>
            </a:extLst>
          </p:cNvPr>
          <p:cNvSpPr>
            <a:spLocks noGrp="1"/>
          </p:cNvSpPr>
          <p:nvPr/>
        </p:nvSpPr>
        <p:spPr>
          <a:xfrm>
            <a:off x="6400800" y="39814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26. Which digestive organ is primarily located in the quadrant labeled 26?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96BBEC-C347-4E14-8CDF-ABCB3AD74941}"/>
              </a:ext>
            </a:extLst>
          </p:cNvPr>
          <p:cNvSpPr>
            <a:spLocks noGrp="1"/>
          </p:cNvSpPr>
          <p:nvPr/>
        </p:nvSpPr>
        <p:spPr>
          <a:xfrm>
            <a:off x="6572250" y="48196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sigmoid colon     B. appendix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70B1BB-AAB1-4C1C-872D-3BD356B6DBBD}"/>
              </a:ext>
            </a:extLst>
          </p:cNvPr>
          <p:cNvSpPr>
            <a:spLocks noGrp="1"/>
          </p:cNvSpPr>
          <p:nvPr/>
        </p:nvSpPr>
        <p:spPr>
          <a:xfrm>
            <a:off x="6572250" y="5143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urinary bladder     D. stomach (left upper quadrant)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7739EF-4C8B-49A2-B8A3-11A2CE2AEC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station-7-question-card-1">
            <a:extLst>
              <a:ext uri="{FF2B5EF4-FFF2-40B4-BE49-F238E27FC236}">
                <a16:creationId xmlns:a16="http://schemas.microsoft.com/office/drawing/2014/main" id="{9A138CC4-1A71-455F-9645-3127FC65A5B6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2" name="station-7-question-card-2">
            <a:extLst>
              <a:ext uri="{FF2B5EF4-FFF2-40B4-BE49-F238E27FC236}">
                <a16:creationId xmlns:a16="http://schemas.microsoft.com/office/drawing/2014/main" id="{3F9DB2DB-F46B-473A-950B-2E74D838B0D6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3" name="station-7-question-card-3">
            <a:extLst>
              <a:ext uri="{FF2B5EF4-FFF2-40B4-BE49-F238E27FC236}">
                <a16:creationId xmlns:a16="http://schemas.microsoft.com/office/drawing/2014/main" id="{904E8F06-3000-4A33-AF99-113CB36AAB97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4" name="station-7-question-card-4">
            <a:extLst>
              <a:ext uri="{FF2B5EF4-FFF2-40B4-BE49-F238E27FC236}">
                <a16:creationId xmlns:a16="http://schemas.microsoft.com/office/drawing/2014/main" id="{1687074B-F55C-4E8B-B589-5B2C06BE2416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7136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4BEEE49-1052-4CC5-97FB-C3456080263F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6FBAAE-2C55-4AB9-B4BD-F26288DECA62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7D637C-D1BD-4F3A-ADDF-CD1DC2B2FD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5B733A-7665-4941-A36C-C97A5A8F4745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27. The region marked 27 is clinically associated with which structure?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B5D338-7168-40DF-92BD-D7BB42B20D7B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spleen     B. appendix (right iliac region)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0760F5-3D0A-4DF1-8D9A-2BF3A781D78F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stomach     D. left kidney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3B0B928-A3E4-4E8D-B021-4A7496687857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58E266-D3D1-4FFE-9C90-74264C0261A7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28. Which organ is commonly found in the upper central region identified by label 28?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1445C9-ACE8-4750-A8E3-79BBF48A3FBB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sigmoid colon     B. urinary bladder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26C205-3F60-4D11-8C95-DE49D2875B3F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appendix     D. stomach (epigastric region)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082819A3-2E72-464D-AF3D-CF47DD9B7A6B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3D612A-3A8F-4958-BF8E-5FDC4427DDAF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29. Which organ would be expected in the lower central region at number 29?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224FB6-9624-4182-B494-23975A9D65EA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left lung     B. spleen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735349-3133-491F-A9DA-C7A55880AF73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liver     D. urinary bladder (hypogastric region)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AC3FC3-02D5-4B23-9729-889CC003D8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7" name="station-8-question-card-1">
            <a:extLst>
              <a:ext uri="{FF2B5EF4-FFF2-40B4-BE49-F238E27FC236}">
                <a16:creationId xmlns:a16="http://schemas.microsoft.com/office/drawing/2014/main" id="{ADC0D3A2-8EA6-48FC-997F-77A5AB42D08F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8" name="station-8-question-card-2">
            <a:extLst>
              <a:ext uri="{FF2B5EF4-FFF2-40B4-BE49-F238E27FC236}">
                <a16:creationId xmlns:a16="http://schemas.microsoft.com/office/drawing/2014/main" id="{871760D0-A46B-4015-AEA1-DC22FA0418D2}"/>
              </a:ext>
            </a:extLst>
          </p:cNvPr>
          <p:cNvSpPr>
            <a:spLocks noGrp="1"/>
          </p:cNvSpPr>
          <p:nvPr/>
        </p:nvSpPr>
        <p:spPr>
          <a:xfrm>
            <a:off x="533400" y="306705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9" name="station-8-question-card-3">
            <a:extLst>
              <a:ext uri="{FF2B5EF4-FFF2-40B4-BE49-F238E27FC236}">
                <a16:creationId xmlns:a16="http://schemas.microsoft.com/office/drawing/2014/main" id="{E765372C-7F8D-4BFC-8ED0-05A275C4FE30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03765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8E52CE2-B9D1-450C-B2EE-4E72C38C660B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AB3A1E-1627-4F8C-A224-E0228BDE68E3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6BAF86-8005-4594-901E-7695BAD0EC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5AE260-A04D-407E-A197-00456460D448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30. The central abdominal region at label 30 commonly contains loops of the: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817E76-0735-4CD3-B09F-1D36D84F396D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right lung     B. heart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00967D-1428-418B-A7F2-155322EDE083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small intestine     D. thyroid gland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A0626DD-87C0-4236-9C16-BB4C06E2F98F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B679BF-0599-4A37-89EE-FCDF85C7AC36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31. Which organ lies in the upper-left abdominal region designated by number 31?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026CA9-99EC-4870-A976-18DB985DE6E3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cecum     B. appendix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A46E52-8164-4556-8111-38F7FDF6DA19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urinary bladder     D. spleen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6FB09562-457E-4EEF-843C-24AABDDA73E2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85A129-654F-4733-831E-5EB3658DD2BA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32. The portion of the large intestine associated with label 32 is the: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4BE05D-383A-41DB-A5FE-C5FA539E6A68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spleen     B. descending colon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D7872E-203D-4E19-AA71-56C46DFC7EF4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ascending colon     D. sigmoid colon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E36C04-198C-4E6F-A349-514E9A1286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7" name="station-9-question-card-1">
            <a:extLst>
              <a:ext uri="{FF2B5EF4-FFF2-40B4-BE49-F238E27FC236}">
                <a16:creationId xmlns:a16="http://schemas.microsoft.com/office/drawing/2014/main" id="{D5F032AD-2B28-4D61-B203-1D54638CA993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8" name="station-9-question-card-2">
            <a:extLst>
              <a:ext uri="{FF2B5EF4-FFF2-40B4-BE49-F238E27FC236}">
                <a16:creationId xmlns:a16="http://schemas.microsoft.com/office/drawing/2014/main" id="{F6A15ECD-6861-4EDC-9971-4894D5541969}"/>
              </a:ext>
            </a:extLst>
          </p:cNvPr>
          <p:cNvSpPr>
            <a:spLocks noGrp="1"/>
          </p:cNvSpPr>
          <p:nvPr/>
        </p:nvSpPr>
        <p:spPr>
          <a:xfrm>
            <a:off x="533400" y="306705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9" name="station-9-question-card-3">
            <a:extLst>
              <a:ext uri="{FF2B5EF4-FFF2-40B4-BE49-F238E27FC236}">
                <a16:creationId xmlns:a16="http://schemas.microsoft.com/office/drawing/2014/main" id="{68F47287-C336-4FA1-8413-14C83F937A24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20716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A6E258B-6898-402A-A5F5-B6061A50D7B6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FECC6D-9E53-4461-8AB6-5123E4EEBC85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54B44C-D459-458B-87F1-8BB38EF4A0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BA6145-DD94-4E57-9ECC-E201EBB88619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33. Which plane or section is represented by label 33?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9A82B0-2220-463D-8A1D-EB7DAECF016A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divides the body in anterior and posterior     B. divides the body in superior and inferior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31FC23-695B-45EC-88FD-06B0CA9B9C45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divides the body exactly into equal right and left halves     D. divides a cylindrical organ horizontally.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9450A3E-84C2-4C9B-81D9-BDF2356B8EE4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A6B6AF-5CA5-4A88-97A7-EEEEA9073068}"/>
              </a:ext>
            </a:extLst>
          </p:cNvPr>
          <p:cNvSpPr>
            <a:spLocks noGrp="1"/>
          </p:cNvSpPr>
          <p:nvPr/>
        </p:nvSpPr>
        <p:spPr>
          <a:xfrm>
            <a:off x="6400800" y="15049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34. The cut shown at number 34 is best described as which plane or section?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AF4BEA-5A99-450B-BCB9-3675C202B39A}"/>
              </a:ext>
            </a:extLst>
          </p:cNvPr>
          <p:cNvSpPr>
            <a:spLocks noGrp="1"/>
          </p:cNvSpPr>
          <p:nvPr/>
        </p:nvSpPr>
        <p:spPr>
          <a:xfrm>
            <a:off x="6572250" y="23431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oblique section     B. midsagittal plane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2F11E1-6604-4F10-924C-D7B209584547}"/>
              </a:ext>
            </a:extLst>
          </p:cNvPr>
          <p:cNvSpPr>
            <a:spLocks noGrp="1"/>
          </p:cNvSpPr>
          <p:nvPr/>
        </p:nvSpPr>
        <p:spPr>
          <a:xfrm>
            <a:off x="6572250" y="2667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parasagittal plane     D. frontal (coronal) plane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7752EA8-BF78-46BD-867C-7E5EAA48638D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F8B61F-3022-441E-B64F-D1B66F7B7DF6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35. Choose the term that names the division marked 35.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62E386-8EB1-4173-87AB-EF8612A0C7BA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sagittal plane (right-left division)     B. frontal (coronal) plane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4DB5E1-FF39-4374-AC48-1DAF319F5B4C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transverse (horizontal)     D. cross section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131FA4B0-FAEE-4980-B64F-4D35AD4E312A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8A2BD1-B2F3-4D68-87FD-2DB07899BC7D}"/>
              </a:ext>
            </a:extLst>
          </p:cNvPr>
          <p:cNvSpPr>
            <a:spLocks noGrp="1"/>
          </p:cNvSpPr>
          <p:nvPr/>
        </p:nvSpPr>
        <p:spPr>
          <a:xfrm>
            <a:off x="64008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36. What type of body division does label 36 illustrate?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08C8C2-AD5A-45D4-A607-80CEF4B80107}"/>
              </a:ext>
            </a:extLst>
          </p:cNvPr>
          <p:cNvSpPr>
            <a:spLocks noGrp="1"/>
          </p:cNvSpPr>
          <p:nvPr/>
        </p:nvSpPr>
        <p:spPr>
          <a:xfrm>
            <a:off x="65722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longitudinal section     B. cross section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63464E-90CB-447C-AF72-34E383DB28B2}"/>
              </a:ext>
            </a:extLst>
          </p:cNvPr>
          <p:cNvSpPr>
            <a:spLocks noGrp="1"/>
          </p:cNvSpPr>
          <p:nvPr/>
        </p:nvSpPr>
        <p:spPr>
          <a:xfrm>
            <a:off x="65722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transverse (horizontal)     D. frontal (coronal) plane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88BD09-E1D7-4504-AC01-D22DCD8EAF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station-10-question-card-1">
            <a:extLst>
              <a:ext uri="{FF2B5EF4-FFF2-40B4-BE49-F238E27FC236}">
                <a16:creationId xmlns:a16="http://schemas.microsoft.com/office/drawing/2014/main" id="{478C8937-A984-4782-83D5-26964D31C104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2" name="station-10-question-card-2">
            <a:extLst>
              <a:ext uri="{FF2B5EF4-FFF2-40B4-BE49-F238E27FC236}">
                <a16:creationId xmlns:a16="http://schemas.microsoft.com/office/drawing/2014/main" id="{23444C30-F0B2-466A-9474-91E28221F803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3" name="station-10-question-card-3">
            <a:extLst>
              <a:ext uri="{FF2B5EF4-FFF2-40B4-BE49-F238E27FC236}">
                <a16:creationId xmlns:a16="http://schemas.microsoft.com/office/drawing/2014/main" id="{E336CA86-2B60-43FA-ADBF-2A197E3A1ABC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4" name="station-10-question-card-4">
            <a:extLst>
              <a:ext uri="{FF2B5EF4-FFF2-40B4-BE49-F238E27FC236}">
                <a16:creationId xmlns:a16="http://schemas.microsoft.com/office/drawing/2014/main" id="{4BA5A2ED-3987-4E24-9395-3112B7E0686D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70280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42C1A7E-E9C9-4661-A387-69B2A2EB03A3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E98219-C659-462F-BFF5-BB573CB39DC2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5D9D72-BD1B-4636-8655-BF8EFB357C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65CFE0-376C-4A57-9CBA-CD2A7AC725AE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37. Which plane or section is represented by label 37?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28FEEC-C709-4E9C-8867-B6E3B069CA77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longitudinal section     B. cross section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CBE071-3A3A-45DA-93B6-647FC15CBE36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oblique section     D. frontal (coronal) plane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027CD23B-91F8-41FC-B1E1-7982B69B4FAB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9B7080-A008-49DD-A236-3721DE0F34DF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38. The cut shown at number 38 is best described as which plane or section?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58C4E5-6049-4B91-B253-3A0CB297C1A9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cross section     B. longitudinal section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9F143B-9C21-46DC-BE8F-EF8B3C9EDDBE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sagittal (median) plane     D. transverse (horizontal)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5DF67ED-67A9-4C4C-8770-8C6BA0E88C16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2A0E37-3F14-4A97-B7F9-2E35D33F180B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39. Choose the term that names the division marked 39.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61404B-6C16-406C-9093-A69B999450C9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midsagittal plane     B. parasagittal plane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BDB650-5DC5-4A35-93A7-7ECCD9236598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sagittal (median) plane     D. transverse (horizontal)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0DA439-22D5-42BF-8050-F918014BDD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7" name="station-11-question-card-1">
            <a:extLst>
              <a:ext uri="{FF2B5EF4-FFF2-40B4-BE49-F238E27FC236}">
                <a16:creationId xmlns:a16="http://schemas.microsoft.com/office/drawing/2014/main" id="{C718D227-8A18-41DC-965B-70CFCF28D15D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8" name="station-11-question-card-2">
            <a:extLst>
              <a:ext uri="{FF2B5EF4-FFF2-40B4-BE49-F238E27FC236}">
                <a16:creationId xmlns:a16="http://schemas.microsoft.com/office/drawing/2014/main" id="{B00D9258-F27E-4966-8EAC-AD114C3C3026}"/>
              </a:ext>
            </a:extLst>
          </p:cNvPr>
          <p:cNvSpPr>
            <a:spLocks noGrp="1"/>
          </p:cNvSpPr>
          <p:nvPr/>
        </p:nvSpPr>
        <p:spPr>
          <a:xfrm>
            <a:off x="533400" y="306705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9" name="station-11-question-card-3">
            <a:extLst>
              <a:ext uri="{FF2B5EF4-FFF2-40B4-BE49-F238E27FC236}">
                <a16:creationId xmlns:a16="http://schemas.microsoft.com/office/drawing/2014/main" id="{014B6AC9-76A4-4DCF-8E3D-8F8663C0B061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7881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DEAF070-BBE9-4311-9DA2-C187B5FACCE9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E15514-C0B1-45CD-B122-375125065109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AB237E-3E4B-4AE2-9E8C-451574D43C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B2AD75-5E5A-405A-B4B6-C6F86B8B2938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40. What measurement is shown by the color scale at label 40?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8D063D-DDB7-4201-B7B5-72B191C69D20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Acid     B. pH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CCBA1C-7CEE-4A7C-B3D6-4D2D1938B451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Base     D. Electrolytes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A46C5B5-9134-41BA-ADBA-1ECB08287533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D31D55-356A-4154-9D2C-21F2FDCCC5A1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41. Which substance at label 41 donates hydrogen ions in solution?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B2FFA8-D2C7-4BFC-BD50-65A76267E319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Base     B. acid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611CE0-101E-4B18-8455-EA2D6A62E76B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Buffer     D. Ions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0CD2D80B-3198-469F-9B70-0111D2798205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2643BE-A88D-4092-B7F7-6F8524773307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42. Which type of substance at label 42 accepts hydrogen ions?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7FE737-ACA3-4968-BE1B-20AA781A41F0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Acid     B. pH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9C3496-F06B-40D3-A662-26D240F6927E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Ions     D. chemical base (proton acceptor)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0D577B-72F2-4772-8E88-CD3509CCEB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7" name="station-12-question-card-1">
            <a:extLst>
              <a:ext uri="{FF2B5EF4-FFF2-40B4-BE49-F238E27FC236}">
                <a16:creationId xmlns:a16="http://schemas.microsoft.com/office/drawing/2014/main" id="{5F4D43BB-099B-4683-AA7D-AB1A6F322979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8" name="station-12-question-card-2">
            <a:extLst>
              <a:ext uri="{FF2B5EF4-FFF2-40B4-BE49-F238E27FC236}">
                <a16:creationId xmlns:a16="http://schemas.microsoft.com/office/drawing/2014/main" id="{B4DE499A-03D8-45B0-BBCF-A89FD1F67F34}"/>
              </a:ext>
            </a:extLst>
          </p:cNvPr>
          <p:cNvSpPr>
            <a:spLocks noGrp="1"/>
          </p:cNvSpPr>
          <p:nvPr/>
        </p:nvSpPr>
        <p:spPr>
          <a:xfrm>
            <a:off x="533400" y="306705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9" name="station-12-question-card-3">
            <a:extLst>
              <a:ext uri="{FF2B5EF4-FFF2-40B4-BE49-F238E27FC236}">
                <a16:creationId xmlns:a16="http://schemas.microsoft.com/office/drawing/2014/main" id="{FF5EC718-A9F2-4F0A-8442-9FEE2E124C9A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42685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6A6FF41-29AF-4DEE-BE1F-A79E02FFE17B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A2E0D7-71DB-44C4-A82B-0F3DC1F2D6FE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A52058-B55B-4156-B78E-745EC6DA02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55393-6CC4-4A3B-80F0-7C58B185BDCA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43. The charged particles shown at number 43 are called: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2432A7-55F9-422E-9CA9-472E11A22E5E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pH     B. 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109A5B-1447-4DCE-928F-E0EA2DA4C41D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Acid     D. Buffer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8D8CF37-43C9-4119-9A6F-67B1EBD19BC3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092824-CC84-485F-BBCA-CB3B9B037312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44. What term describes the solution at label 44 that conducts electricity?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F7DEA-5875-43ED-B688-7794ACAF758D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pH     B. Base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AE4306-F619-4BE5-A36D-2BD2CBEFA79C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electrolytes     D. Buffer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3F733BD-8BA3-4D91-898A-D83BCEEA7C76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67C226-D129-4F98-9F67-E38C959C3266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45. Which system at label 45 helps resist abrupt pH change?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A3850B-E555-4406-B845-0F2462F10C03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Acid     B. buffer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0F6CE3-1835-496B-B14F-5A72F93886B0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Electrolytes     D. 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5500F2-5047-4B18-8AB7-1FBEE6B099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7" name="station-13-question-card-1">
            <a:extLst>
              <a:ext uri="{FF2B5EF4-FFF2-40B4-BE49-F238E27FC236}">
                <a16:creationId xmlns:a16="http://schemas.microsoft.com/office/drawing/2014/main" id="{9118D4AF-C3CA-4ACB-AB78-8D0876B23C1E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8" name="station-13-question-card-2">
            <a:extLst>
              <a:ext uri="{FF2B5EF4-FFF2-40B4-BE49-F238E27FC236}">
                <a16:creationId xmlns:a16="http://schemas.microsoft.com/office/drawing/2014/main" id="{59CC62FF-34E1-443B-B0C4-5D54CCE6C403}"/>
              </a:ext>
            </a:extLst>
          </p:cNvPr>
          <p:cNvSpPr>
            <a:spLocks noGrp="1"/>
          </p:cNvSpPr>
          <p:nvPr/>
        </p:nvSpPr>
        <p:spPr>
          <a:xfrm>
            <a:off x="533400" y="306705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9" name="station-13-question-card-3">
            <a:extLst>
              <a:ext uri="{FF2B5EF4-FFF2-40B4-BE49-F238E27FC236}">
                <a16:creationId xmlns:a16="http://schemas.microsoft.com/office/drawing/2014/main" id="{22AB2EAA-77E0-4766-A3D9-B0ADC754FDF7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38176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B15081F-59B9-4414-B695-CE41CACBF072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1864F2-36E9-43F0-9B98-B00926F2A5DF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1EC9FA-C08B-4E75-8521-7BC56DA760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A9C542-76AD-4968-B2E9-2B5A6F190009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46. Which microscope part at 46 provides the available magnification choices?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7397AC-E375-4288-BF97-A50124ED1ACC}"/>
              </a:ext>
            </a:extLst>
          </p:cNvPr>
          <p:cNvSpPr>
            <a:spLocks noGrp="1"/>
          </p:cNvSpPr>
          <p:nvPr/>
        </p:nvSpPr>
        <p:spPr>
          <a:xfrm>
            <a:off x="895350" y="23431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eyepiece (ocular lens)     B. mechanical stage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B68DB4-66EE-4D95-8C87-E7939318ABBA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cover slip     D. objective lenses (scan, low, high)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E1341FF7-3C0B-4992-897A-68949C2B473F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D762D0-E250-4149-849F-6FAB4A4DE2BC}"/>
              </a:ext>
            </a:extLst>
          </p:cNvPr>
          <p:cNvSpPr>
            <a:spLocks noGrp="1"/>
          </p:cNvSpPr>
          <p:nvPr/>
        </p:nvSpPr>
        <p:spPr>
          <a:xfrm>
            <a:off x="6400800" y="15049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47. For sharp focus at high power, which control is identified by 47?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BE52A4-9F71-4E1A-9712-5ECD847638E0}"/>
              </a:ext>
            </a:extLst>
          </p:cNvPr>
          <p:cNvSpPr>
            <a:spLocks noGrp="1"/>
          </p:cNvSpPr>
          <p:nvPr/>
        </p:nvSpPr>
        <p:spPr>
          <a:xfrm>
            <a:off x="6572250" y="23431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fine adjustment knob     B. substage disc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591A75-DB8F-472F-BAF3-C206A8753787}"/>
              </a:ext>
            </a:extLst>
          </p:cNvPr>
          <p:cNvSpPr>
            <a:spLocks noGrp="1"/>
          </p:cNvSpPr>
          <p:nvPr/>
        </p:nvSpPr>
        <p:spPr>
          <a:xfrm>
            <a:off x="6572250" y="2667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coarse adjustment knob     D. base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52EA2E6-91C4-4273-AC7E-CC21D8AB394D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A70FFB-1D7A-4FA1-B68C-A7CBFD0E3F8E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48. Which component at label 48 moves the slide precisely across the field?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668792-3F5D-4616-AB76-F5CC9733D49D}"/>
              </a:ext>
            </a:extLst>
          </p:cNvPr>
          <p:cNvSpPr>
            <a:spLocks noGrp="1"/>
          </p:cNvSpPr>
          <p:nvPr/>
        </p:nvSpPr>
        <p:spPr>
          <a:xfrm>
            <a:off x="895350" y="48196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stage     B. body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D79A2B-965B-40B6-9E98-F2F4E94BF3FF}"/>
              </a:ext>
            </a:extLst>
          </p:cNvPr>
          <p:cNvSpPr>
            <a:spLocks noGrp="1"/>
          </p:cNvSpPr>
          <p:nvPr/>
        </p:nvSpPr>
        <p:spPr>
          <a:xfrm>
            <a:off x="895350" y="5143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mechanical stage     D. arm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9523D033-BED1-4CEA-A893-BB06CA67E18C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80D01B-BCD0-468B-A981-219BE7103E27}"/>
              </a:ext>
            </a:extLst>
          </p:cNvPr>
          <p:cNvSpPr>
            <a:spLocks noGrp="1"/>
          </p:cNvSpPr>
          <p:nvPr/>
        </p:nvSpPr>
        <p:spPr>
          <a:xfrm>
            <a:off x="64008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49. Which lens at number 49 is used to view the specimen?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FCE46C-ADD4-4A26-AA06-F559113753D0}"/>
              </a:ext>
            </a:extLst>
          </p:cNvPr>
          <p:cNvSpPr>
            <a:spLocks noGrp="1"/>
          </p:cNvSpPr>
          <p:nvPr/>
        </p:nvSpPr>
        <p:spPr>
          <a:xfrm>
            <a:off x="65722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eyepiece (ocular lens)     B. objective lenses (scan, low, high)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E93DF8-AD1E-4281-A4E3-48689DB4D2B8}"/>
              </a:ext>
            </a:extLst>
          </p:cNvPr>
          <p:cNvSpPr>
            <a:spLocks noGrp="1"/>
          </p:cNvSpPr>
          <p:nvPr/>
        </p:nvSpPr>
        <p:spPr>
          <a:xfrm>
            <a:off x="65722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stage     D. substage lamp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B1FBEF-340C-4860-BF86-91ED458C93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station-14-question-card-1">
            <a:extLst>
              <a:ext uri="{FF2B5EF4-FFF2-40B4-BE49-F238E27FC236}">
                <a16:creationId xmlns:a16="http://schemas.microsoft.com/office/drawing/2014/main" id="{6702EC5B-4CB7-45E0-9F63-1FDED8731CA2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2" name="station-14-question-card-2">
            <a:extLst>
              <a:ext uri="{FF2B5EF4-FFF2-40B4-BE49-F238E27FC236}">
                <a16:creationId xmlns:a16="http://schemas.microsoft.com/office/drawing/2014/main" id="{FC64EE6C-AD6A-4EAD-961B-360906B63E80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3" name="station-14-question-card-3">
            <a:extLst>
              <a:ext uri="{FF2B5EF4-FFF2-40B4-BE49-F238E27FC236}">
                <a16:creationId xmlns:a16="http://schemas.microsoft.com/office/drawing/2014/main" id="{8A3B9049-A496-49BB-BC5B-E3EE27CFD3A6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4" name="station-14-question-card-4">
            <a:extLst>
              <a:ext uri="{FF2B5EF4-FFF2-40B4-BE49-F238E27FC236}">
                <a16:creationId xmlns:a16="http://schemas.microsoft.com/office/drawing/2014/main" id="{4925914B-1161-4DC7-8C04-4190A9634113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40698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4198F2E-D8E0-4AFA-A517-6721887AF6BC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7B575F-CD4D-4D12-9D24-499505B2160F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15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67375D-D972-4A49-83FA-15882FC766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9C8E95-530E-497E-B1B8-A17642530FCB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50. Which item at label 50 illuminates the specimen?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1BD683-146C-4491-A6B1-D1214FBCE5B5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eyepiece (ocular lens)     B. substage lamp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518CE3-1A30-45DD-B237-9B1E6BFCEE54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cover slip     D. objective lenses (scan, low, high)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32F88C7-02B5-41A6-9CC5-3058CA9834DC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A4FF8D-12C9-44CB-A1A3-43EB6EA9CA79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51. Which feature at 51 supports the microscope on the bench?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FA4FC9-FE77-46BF-8783-47A4C5AB8663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arm     B. microscope base (support)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B1294E-A978-4B10-8B14-364A44ED9652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body     D. stage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47F3297-8C7B-4690-A0D8-18C908E2FA2A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30ADB3-B389-4876-AC58-9D4DF101B045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52. Which rotating component at 52 carries the objective lenses?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ECB8BE-9FB6-4B65-AA1F-C0129929C0EC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mechanical stage     B. nosepiece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718A80-C1E9-4DCC-BFAC-1F4C1AA1F995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substage disc     D. fine adjustment knob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7816A3-948C-463D-A27D-779EA024A9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7" name="station-15-question-card-1">
            <a:extLst>
              <a:ext uri="{FF2B5EF4-FFF2-40B4-BE49-F238E27FC236}">
                <a16:creationId xmlns:a16="http://schemas.microsoft.com/office/drawing/2014/main" id="{004048F2-7FB4-406D-8E01-49E7FDEE8310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8" name="station-15-question-card-2">
            <a:extLst>
              <a:ext uri="{FF2B5EF4-FFF2-40B4-BE49-F238E27FC236}">
                <a16:creationId xmlns:a16="http://schemas.microsoft.com/office/drawing/2014/main" id="{C496AA3F-A8EA-49FA-954D-021CFD7D7A3B}"/>
              </a:ext>
            </a:extLst>
          </p:cNvPr>
          <p:cNvSpPr>
            <a:spLocks noGrp="1"/>
          </p:cNvSpPr>
          <p:nvPr/>
        </p:nvSpPr>
        <p:spPr>
          <a:xfrm>
            <a:off x="533400" y="306705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9" name="station-15-question-card-3">
            <a:extLst>
              <a:ext uri="{FF2B5EF4-FFF2-40B4-BE49-F238E27FC236}">
                <a16:creationId xmlns:a16="http://schemas.microsoft.com/office/drawing/2014/main" id="{63DAEB1D-6395-42D4-8652-3032EBF14C5B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73067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3D19FD9-1DB6-4400-BBFB-936C2A805D37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E609B6-C44F-41D4-A5CC-14483B9980A2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16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C5337C-7CAB-4CD4-B68C-A1C5F4E9C1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717128-9FE7-4F23-AA5F-A79D5CF5723F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53. What optical capability is demonstrated by the two close points at 53?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FB5AB2-BA82-4179-86CF-C4E7B2EB2E56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total magnification     B. base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106EC1-792C-4E0D-AB48-10FB4C15C956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coarse adjustment knob     D. resolution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04A619B2-986D-41D9-A527-9EA007ACE94A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E0ECA3-5182-462B-B6B1-727B09163717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54. Which term describes the enlargement associated with label 54?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BF79E7-E646-437A-8D50-97AC1FEBDD92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stage     B. resolution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E268C7-FCBB-406B-BF04-CBB378BDAF52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total magnification     D. nosepiece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3FCC496-9EDB-4D49-A330-C5EBCF9B5035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5D1E86-8A72-4041-A782-C9ED3EDB391D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55. What is the glass support for a specimen at label 55?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93E2C3-72DB-46EA-8710-495AA103C362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cover slip     B. stage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9E4204-AC60-41A1-A1DB-FB318C2B839E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microscopic slide     D. body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BB482A-7F2E-47D8-869B-13A6255710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7" name="station-16-question-card-1">
            <a:extLst>
              <a:ext uri="{FF2B5EF4-FFF2-40B4-BE49-F238E27FC236}">
                <a16:creationId xmlns:a16="http://schemas.microsoft.com/office/drawing/2014/main" id="{99BC18A7-7762-45D4-8201-BD6BC370E415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8" name="station-16-question-card-2">
            <a:extLst>
              <a:ext uri="{FF2B5EF4-FFF2-40B4-BE49-F238E27FC236}">
                <a16:creationId xmlns:a16="http://schemas.microsoft.com/office/drawing/2014/main" id="{6949F8A2-30BF-443B-88FE-38F0CA9007FE}"/>
              </a:ext>
            </a:extLst>
          </p:cNvPr>
          <p:cNvSpPr>
            <a:spLocks noGrp="1"/>
          </p:cNvSpPr>
          <p:nvPr/>
        </p:nvSpPr>
        <p:spPr>
          <a:xfrm>
            <a:off x="533400" y="306705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9" name="station-16-question-card-3">
            <a:extLst>
              <a:ext uri="{FF2B5EF4-FFF2-40B4-BE49-F238E27FC236}">
                <a16:creationId xmlns:a16="http://schemas.microsoft.com/office/drawing/2014/main" id="{643C338A-3454-401E-B2A8-3C30860DE459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13875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DB2F3D1-74D9-4F94-A82A-5C2FBA63290A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EBA706-3E3A-4529-AD47-CF58DFE17B24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17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82FF3F-3F8A-4614-B5C8-5B3834EDB5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B392E-A27F-4466-9803-B2D2ED0CC25B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56. Which structure at label 56 produces ATP during cellular respiration?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419714-37F2-408A-AC15-5C8092A72017}"/>
              </a:ext>
            </a:extLst>
          </p:cNvPr>
          <p:cNvSpPr>
            <a:spLocks noGrp="1"/>
          </p:cNvSpPr>
          <p:nvPr/>
        </p:nvSpPr>
        <p:spPr>
          <a:xfrm>
            <a:off x="895350" y="23431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endoplasmic reticulum     B. ribosome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D1CAF3-C346-492A-A66D-8AB8E6629D08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mitochondrion     D. peroxisome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B105176-9478-4FA6-A96F-C61C9C07F171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189673-7A80-468B-AC10-6ACB38DDFA67}"/>
              </a:ext>
            </a:extLst>
          </p:cNvPr>
          <p:cNvSpPr>
            <a:spLocks noGrp="1"/>
          </p:cNvSpPr>
          <p:nvPr/>
        </p:nvSpPr>
        <p:spPr>
          <a:xfrm>
            <a:off x="6400800" y="15049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57. Which boundary at 57 regulates entry into and exit from the cell?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36E500-4306-4791-9CCA-99F55AFDFF2A}"/>
              </a:ext>
            </a:extLst>
          </p:cNvPr>
          <p:cNvSpPr>
            <a:spLocks noGrp="1"/>
          </p:cNvSpPr>
          <p:nvPr/>
        </p:nvSpPr>
        <p:spPr>
          <a:xfrm>
            <a:off x="6572250" y="23431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lysosome     B. cell membrane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E1D3EB-6BCD-4C63-AB3A-A518472596AA}"/>
              </a:ext>
            </a:extLst>
          </p:cNvPr>
          <p:cNvSpPr>
            <a:spLocks noGrp="1"/>
          </p:cNvSpPr>
          <p:nvPr/>
        </p:nvSpPr>
        <p:spPr>
          <a:xfrm>
            <a:off x="6572250" y="2667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cytoplasm     D. nucleus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0C65D722-BF56-4257-B8DF-7BEB74443071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74AFB9-3004-4116-8A2F-7DC52D1EF833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58. Which control center is represented by number 58?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B58F1-8192-45C7-A099-1E3A264B0023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mitochondria     B. nucleolus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C31655-4EBE-4B7F-BF0A-606AF36D02E0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nucleus     D. Golgi apparatus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70C5D15-7207-415D-91D5-287D0FBB586A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3F178E-6DC3-4B9D-B6E1-953F1EC4DA92}"/>
              </a:ext>
            </a:extLst>
          </p:cNvPr>
          <p:cNvSpPr>
            <a:spLocks noGrp="1"/>
          </p:cNvSpPr>
          <p:nvPr/>
        </p:nvSpPr>
        <p:spPr>
          <a:xfrm>
            <a:off x="64008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59. Which organelle at 59 modifies and packages proteins?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918DAB-D187-4703-A13B-0D75361787BE}"/>
              </a:ext>
            </a:extLst>
          </p:cNvPr>
          <p:cNvSpPr>
            <a:spLocks noGrp="1"/>
          </p:cNvSpPr>
          <p:nvPr/>
        </p:nvSpPr>
        <p:spPr>
          <a:xfrm>
            <a:off x="65722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Golgi apparatus     B. centrosome / centriole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2388D8-53CE-4A36-89BC-1EEDB81EA90A}"/>
              </a:ext>
            </a:extLst>
          </p:cNvPr>
          <p:cNvSpPr>
            <a:spLocks noGrp="1"/>
          </p:cNvSpPr>
          <p:nvPr/>
        </p:nvSpPr>
        <p:spPr>
          <a:xfrm>
            <a:off x="65722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cell membrane     D. lysosome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BC06E3-1D2E-415A-A38F-E4474C05CA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station-17-question-card-1">
            <a:extLst>
              <a:ext uri="{FF2B5EF4-FFF2-40B4-BE49-F238E27FC236}">
                <a16:creationId xmlns:a16="http://schemas.microsoft.com/office/drawing/2014/main" id="{40DF87BA-C7B6-451E-B509-A45234B7C01B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2" name="station-17-question-card-2">
            <a:extLst>
              <a:ext uri="{FF2B5EF4-FFF2-40B4-BE49-F238E27FC236}">
                <a16:creationId xmlns:a16="http://schemas.microsoft.com/office/drawing/2014/main" id="{6FCF1128-EB03-41A7-9AC6-662304946F16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3" name="station-17-question-card-3">
            <a:extLst>
              <a:ext uri="{FF2B5EF4-FFF2-40B4-BE49-F238E27FC236}">
                <a16:creationId xmlns:a16="http://schemas.microsoft.com/office/drawing/2014/main" id="{B497CBD7-6984-48E7-B8BB-513070FC3A51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4" name="station-17-question-card-4">
            <a:extLst>
              <a:ext uri="{FF2B5EF4-FFF2-40B4-BE49-F238E27FC236}">
                <a16:creationId xmlns:a16="http://schemas.microsoft.com/office/drawing/2014/main" id="{D2F64C35-2570-458F-AEF5-F13F73A18FAA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075068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80B6D23-DE24-477B-AA59-5E8E3640B84D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97455C-4E5E-4A84-ACFF-D5E0D56EA3E2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36DE96-9FC1-4C71-8527-C5862D50DD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1CDDA4-AAC6-44F9-8811-BC4BBB3FB473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60. What tiny structure at label 60 is the site of protein synthesis?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653D7-7E14-48F6-8ECD-9244102DFA7D}"/>
              </a:ext>
            </a:extLst>
          </p:cNvPr>
          <p:cNvSpPr>
            <a:spLocks noGrp="1"/>
          </p:cNvSpPr>
          <p:nvPr/>
        </p:nvSpPr>
        <p:spPr>
          <a:xfrm>
            <a:off x="895350" y="23431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smooth     B. rough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CBBA0D-960D-41A4-9616-9F68926FEB8C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ribosome     D. DNA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576869EE-8804-4EB2-BC85-10E87416EA93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904212-B723-4662-A97D-602EC2AD116D}"/>
              </a:ext>
            </a:extLst>
          </p:cNvPr>
          <p:cNvSpPr>
            <a:spLocks noGrp="1"/>
          </p:cNvSpPr>
          <p:nvPr/>
        </p:nvSpPr>
        <p:spPr>
          <a:xfrm>
            <a:off x="6400800" y="15049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61. Which structure at 61 organizes microtubules during cell division?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AF6819-1BD2-4F7F-8E55-A1A5FE6D6187}"/>
              </a:ext>
            </a:extLst>
          </p:cNvPr>
          <p:cNvSpPr>
            <a:spLocks noGrp="1"/>
          </p:cNvSpPr>
          <p:nvPr/>
        </p:nvSpPr>
        <p:spPr>
          <a:xfrm>
            <a:off x="6572250" y="23431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cilia     B. cytoplasm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1A3791-3BA0-42E8-8FBA-51C2D009C253}"/>
              </a:ext>
            </a:extLst>
          </p:cNvPr>
          <p:cNvSpPr>
            <a:spLocks noGrp="1"/>
          </p:cNvSpPr>
          <p:nvPr/>
        </p:nvSpPr>
        <p:spPr>
          <a:xfrm>
            <a:off x="6572250" y="2667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centrosome     D. flagella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2FCDF243-AF92-4722-A5E8-7AA89DBC10AB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125DD7-57BD-494D-9D5B-1712A1566117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62. Which membrane network at 62 participates in protein and lipid synthesis?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B2AE7A-E3E3-4E20-8792-CFCE0792B026}"/>
              </a:ext>
            </a:extLst>
          </p:cNvPr>
          <p:cNvSpPr>
            <a:spLocks noGrp="1"/>
          </p:cNvSpPr>
          <p:nvPr/>
        </p:nvSpPr>
        <p:spPr>
          <a:xfrm>
            <a:off x="895350" y="48196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chromatin / chromosome     B. endoplasmic reticulum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5E2541-F6F3-4840-8002-F4B8401C65A2}"/>
              </a:ext>
            </a:extLst>
          </p:cNvPr>
          <p:cNvSpPr>
            <a:spLocks noGrp="1"/>
          </p:cNvSpPr>
          <p:nvPr/>
        </p:nvSpPr>
        <p:spPr>
          <a:xfrm>
            <a:off x="895350" y="5143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nuclear envelope     D. cilia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2F0CC17E-130C-48A1-A016-136A346F8346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BE364B-60FF-4682-9E34-F78A90CC2B5C}"/>
              </a:ext>
            </a:extLst>
          </p:cNvPr>
          <p:cNvSpPr>
            <a:spLocks noGrp="1"/>
          </p:cNvSpPr>
          <p:nvPr/>
        </p:nvSpPr>
        <p:spPr>
          <a:xfrm>
            <a:off x="64008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63. Which digestive organelle is indicated by 63?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391344-E260-4428-B0E4-2AD4680AF213}"/>
              </a:ext>
            </a:extLst>
          </p:cNvPr>
          <p:cNvSpPr>
            <a:spLocks noGrp="1"/>
          </p:cNvSpPr>
          <p:nvPr/>
        </p:nvSpPr>
        <p:spPr>
          <a:xfrm>
            <a:off x="65722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peroxisome     B. nucleolus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15A7F9-4938-4CF5-87C1-3419D3626AB3}"/>
              </a:ext>
            </a:extLst>
          </p:cNvPr>
          <p:cNvSpPr>
            <a:spLocks noGrp="1"/>
          </p:cNvSpPr>
          <p:nvPr/>
        </p:nvSpPr>
        <p:spPr>
          <a:xfrm>
            <a:off x="65722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mitochondria     D. lysosome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0A2863-A7BA-4903-B753-52E0D2EB47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station-18-question-card-1">
            <a:extLst>
              <a:ext uri="{FF2B5EF4-FFF2-40B4-BE49-F238E27FC236}">
                <a16:creationId xmlns:a16="http://schemas.microsoft.com/office/drawing/2014/main" id="{D961D978-923D-4001-9F68-72A58A45C505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2" name="station-18-question-card-2">
            <a:extLst>
              <a:ext uri="{FF2B5EF4-FFF2-40B4-BE49-F238E27FC236}">
                <a16:creationId xmlns:a16="http://schemas.microsoft.com/office/drawing/2014/main" id="{E1F33CCF-48E0-4134-8B82-9C099E456F69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3" name="station-18-question-card-3">
            <a:extLst>
              <a:ext uri="{FF2B5EF4-FFF2-40B4-BE49-F238E27FC236}">
                <a16:creationId xmlns:a16="http://schemas.microsoft.com/office/drawing/2014/main" id="{7414E196-7C58-4F5C-BE36-31DDE5772498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4" name="station-18-question-card-4">
            <a:extLst>
              <a:ext uri="{FF2B5EF4-FFF2-40B4-BE49-F238E27FC236}">
                <a16:creationId xmlns:a16="http://schemas.microsoft.com/office/drawing/2014/main" id="{2D7EBD27-5587-4B83-9FFF-E8008C2B842C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26681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7E37004-9F33-47B8-B577-1C804689CD48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FE2E81-4B2D-435D-9F60-F7FD73BE4849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9D834E-6A16-4963-860A-9CD68CD215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B3F04F-F7E9-48C7-A7F5-5B39A6914B77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64. What fluid-like material around the organelles is marked 64?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9F87D2-4DA9-44F0-BD0D-FA85E67B0B27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cell membrane     B. lysosome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2F7A-8A08-437E-A77D-1994F56602DA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nucleus     D. cytoplasm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3CB1683-16C1-48A0-AAD1-2B9D45B8A9E0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58C21D-DC1A-4293-BEDF-8C866B4275A2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65. Which molecule carrying genetic information is indicated by 65?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D7F28-C458-49FB-9B60-759B1D776E5F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chromatin / chromosome     B. nucleolus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7BDDAB-03A4-40D3-A2F5-D8847C002B0E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cytoplasm     D. DNA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B5BB26D4-6BC2-40FF-A309-EC40E1B30A33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576A49-2E62-42D7-9761-7F6287C55E75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66. Which double membrane is marked 66?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FD34A2-9EFF-4CFA-A199-401B1809532F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endoplasmic reticulum     B. cell membrane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B7496-63F1-4D8B-A2CE-D981E922FD5E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nuclear envelope     D. Golgi apparatus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5FA5F0-342A-487F-932E-71CB5F11DE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7" name="station-19-question-card-1">
            <a:extLst>
              <a:ext uri="{FF2B5EF4-FFF2-40B4-BE49-F238E27FC236}">
                <a16:creationId xmlns:a16="http://schemas.microsoft.com/office/drawing/2014/main" id="{99310C7E-B2D7-4B56-9A77-56582E787D81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8" name="station-19-question-card-2">
            <a:extLst>
              <a:ext uri="{FF2B5EF4-FFF2-40B4-BE49-F238E27FC236}">
                <a16:creationId xmlns:a16="http://schemas.microsoft.com/office/drawing/2014/main" id="{4E70FD0E-1D38-44F5-9482-A7027EA9D8A9}"/>
              </a:ext>
            </a:extLst>
          </p:cNvPr>
          <p:cNvSpPr>
            <a:spLocks noGrp="1"/>
          </p:cNvSpPr>
          <p:nvPr/>
        </p:nvSpPr>
        <p:spPr>
          <a:xfrm>
            <a:off x="533400" y="306705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9" name="station-19-question-card-3">
            <a:extLst>
              <a:ext uri="{FF2B5EF4-FFF2-40B4-BE49-F238E27FC236}">
                <a16:creationId xmlns:a16="http://schemas.microsoft.com/office/drawing/2014/main" id="{A5F34185-660C-4C92-8F47-28A224011704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06321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00FD4C8-2F5B-4736-BF5A-0CF020B15D88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44EDD-7E3B-445E-9704-7ADC6832244D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E2CF43-C9A9-4420-AA3E-71BF74785D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9B962C-1A22-4D4E-9890-AE36F33389AD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67. Which nuclear structure produces ribosomal RNA at 67?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C710EA-23DB-4800-BCA6-8E114250763F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chromatin / chromosome     B. nucleolus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4026E-BA66-4BB5-B5C8-23A9F49766EA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centrosome / centriole     D. DNA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26F956A-E508-4511-9C0F-4BCAA1B0A348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D5F8BB-8F90-4044-9CCF-E16FA0521EF4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68. Which ER type at label 68 lacks ribosomes and synthesizes lipids?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8A82B9-D2E5-4437-BC5D-B6132C8DE494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nuclear envelope     B. rough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27279-1AAB-410D-ADE7-9F574B848AAE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smooth endoplasmic reticulum     D. cell membrane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0D53D474-CF51-44C1-8B3D-BEC6E0812C50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BDB8A9-0787-4288-B1E3-84618B358537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69. Which ER type at label 69 bears ribosomes?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533E4A-8743-4D22-89D6-F5C9FB058947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Golgi apparatus     B. rough endoplasmic reticulum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558C3D-0638-423E-839C-F008A72BDDC9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endoplasmic reticulum     D. smooth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3B5591-3FE5-4F71-910B-C05336F28A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7" name="station-20-question-card-1">
            <a:extLst>
              <a:ext uri="{FF2B5EF4-FFF2-40B4-BE49-F238E27FC236}">
                <a16:creationId xmlns:a16="http://schemas.microsoft.com/office/drawing/2014/main" id="{13DF38BA-9997-4E5A-A568-2D91DBCD70E2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8" name="station-20-question-card-2">
            <a:extLst>
              <a:ext uri="{FF2B5EF4-FFF2-40B4-BE49-F238E27FC236}">
                <a16:creationId xmlns:a16="http://schemas.microsoft.com/office/drawing/2014/main" id="{50B3077A-934B-4E2C-9BC9-C4581203FA22}"/>
              </a:ext>
            </a:extLst>
          </p:cNvPr>
          <p:cNvSpPr>
            <a:spLocks noGrp="1"/>
          </p:cNvSpPr>
          <p:nvPr/>
        </p:nvSpPr>
        <p:spPr>
          <a:xfrm>
            <a:off x="533400" y="306705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9" name="station-20-question-card-3">
            <a:extLst>
              <a:ext uri="{FF2B5EF4-FFF2-40B4-BE49-F238E27FC236}">
                <a16:creationId xmlns:a16="http://schemas.microsoft.com/office/drawing/2014/main" id="{32F402BA-2983-49E1-A2A7-827C2E4161C6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06730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707CDCB-5EEC-41AD-9D1C-0715A4D6DA63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6A8E73-832C-4417-9E49-3A1B7328DABF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21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09B01C-DF57-4F81-BF68-5C3FFF8BE9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8CF66-A576-45C4-AAE3-60F31DAA7D74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70. Which mitotic phase at 70 shows chromosomes arriving at opposite poles?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B1B00F-7D5E-4674-BA74-87FFD903A6E8}"/>
              </a:ext>
            </a:extLst>
          </p:cNvPr>
          <p:cNvSpPr>
            <a:spLocks noGrp="1"/>
          </p:cNvSpPr>
          <p:nvPr/>
        </p:nvSpPr>
        <p:spPr>
          <a:xfrm>
            <a:off x="895350" y="23431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anaphase     B. telophase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D1D7FA-1570-4DAB-9D89-880BEFCAFD58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prophase     D. metaphase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660A9BF-9E86-4A53-80B8-B802A598DE8D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2B1D05-519F-4066-A034-27490E2BCBA9}"/>
              </a:ext>
            </a:extLst>
          </p:cNvPr>
          <p:cNvSpPr>
            <a:spLocks noGrp="1"/>
          </p:cNvSpPr>
          <p:nvPr/>
        </p:nvSpPr>
        <p:spPr>
          <a:xfrm>
            <a:off x="64008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71. Which phase at 71 shows chromosome condensation?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861A15-F987-4351-B3D9-167850E65789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prophase     B. metaphase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2C3632-B571-44D9-9A8C-A0659E06BFA0}"/>
              </a:ext>
            </a:extLst>
          </p:cNvPr>
          <p:cNvSpPr>
            <a:spLocks noGrp="1"/>
          </p:cNvSpPr>
          <p:nvPr/>
        </p:nvSpPr>
        <p:spPr>
          <a:xfrm>
            <a:off x="65722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anaphase     D. telophase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B0709F85-7CEF-43C0-B08A-6EE99DCB9FD4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8639DA-196A-44E3-A71B-2829BA72AFCB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72. Which phase at 72 shows sister chromatids moving apart?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0AD4BB-FA1A-4DFD-B7CC-DDB2E56E5CEC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metaphase     B. anaphase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B3204C-1DF2-4232-B9E8-0D7D98BA6822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telophase     D. prophase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63806417-55FF-4384-A3F7-68EFA93483FD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9DC19D-D5FB-4BDA-A98E-573EB787ACEB}"/>
              </a:ext>
            </a:extLst>
          </p:cNvPr>
          <p:cNvSpPr>
            <a:spLocks noGrp="1"/>
          </p:cNvSpPr>
          <p:nvPr/>
        </p:nvSpPr>
        <p:spPr>
          <a:xfrm>
            <a:off x="6400800" y="39814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73. At which phase, shown by label 73, do chromosomes align at the equator?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133D8E-B4B1-4F8E-94C3-833E872F848A}"/>
              </a:ext>
            </a:extLst>
          </p:cNvPr>
          <p:cNvSpPr>
            <a:spLocks noGrp="1"/>
          </p:cNvSpPr>
          <p:nvPr/>
        </p:nvSpPr>
        <p:spPr>
          <a:xfrm>
            <a:off x="6572250" y="48196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metaphase     B. prophase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FFC9EB-0F10-44EB-A772-D8075427E251}"/>
              </a:ext>
            </a:extLst>
          </p:cNvPr>
          <p:cNvSpPr>
            <a:spLocks noGrp="1"/>
          </p:cNvSpPr>
          <p:nvPr/>
        </p:nvSpPr>
        <p:spPr>
          <a:xfrm>
            <a:off x="6572250" y="5143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anaphase     D. telophase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15ECBA-CE3D-483E-A5B2-9A27C5A4F3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station-21-question-card-1">
            <a:extLst>
              <a:ext uri="{FF2B5EF4-FFF2-40B4-BE49-F238E27FC236}">
                <a16:creationId xmlns:a16="http://schemas.microsoft.com/office/drawing/2014/main" id="{F2752E23-A489-46B5-8F5F-C68888AA9A7C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2" name="station-21-question-card-2">
            <a:extLst>
              <a:ext uri="{FF2B5EF4-FFF2-40B4-BE49-F238E27FC236}">
                <a16:creationId xmlns:a16="http://schemas.microsoft.com/office/drawing/2014/main" id="{D9DB2944-B5E1-4439-BEC2-BB7EB1DA9813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3" name="station-21-question-card-3">
            <a:extLst>
              <a:ext uri="{FF2B5EF4-FFF2-40B4-BE49-F238E27FC236}">
                <a16:creationId xmlns:a16="http://schemas.microsoft.com/office/drawing/2014/main" id="{26D8F578-4591-4A72-AB33-FAC969E22C64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4" name="station-21-question-card-4">
            <a:extLst>
              <a:ext uri="{FF2B5EF4-FFF2-40B4-BE49-F238E27FC236}">
                <a16:creationId xmlns:a16="http://schemas.microsoft.com/office/drawing/2014/main" id="{D785E924-692C-4388-BEE3-32E4E2E5769B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82067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791D3CC-E9E5-4DC1-9A47-181449BBEC44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E2FDDE-7FD9-41FD-8DE4-C3A570BF5802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F2C24A-C089-4468-9C16-EFC0AB9795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39D52D-1627-4B5D-B6CF-800C66E8440B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74. What process at 74 separates the cytoplasm into two cells?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36057C-9DFA-484E-ACD3-F73B0692CA48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cytokinesis     B. Mitosis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7FD59-53F1-4880-88BC-1322473FE987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Interphase     D. 2 daughter cells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E09E74C-EEB9-4E96-8F3B-5FC8C9CBEF33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2987EF-01D2-4E9E-8FEE-39AA69B8B546}"/>
              </a:ext>
            </a:extLst>
          </p:cNvPr>
          <p:cNvSpPr>
            <a:spLocks noGrp="1"/>
          </p:cNvSpPr>
          <p:nvPr/>
        </p:nvSpPr>
        <p:spPr>
          <a:xfrm>
            <a:off x="64008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75. One half of the duplicated chromosome at 75 is a: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43BEE9-888B-46ED-9089-80A8D0CB8562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centromere     B. spindle apparatus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D081AB-A9A0-4B12-98EA-931577039DCC}"/>
              </a:ext>
            </a:extLst>
          </p:cNvPr>
          <p:cNvSpPr>
            <a:spLocks noGrp="1"/>
          </p:cNvSpPr>
          <p:nvPr/>
        </p:nvSpPr>
        <p:spPr>
          <a:xfrm>
            <a:off x="65722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Mitosis     D. chromatid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2BB2690-1875-4DCD-80F3-776525BC0350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63E05A-95AE-41E4-952C-1AA0655A2A54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76. Which preparation phase, labeled 76, includes DNA replication?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4BF159-C944-421A-B873-325515F025B5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Mitosis     B. Interphase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22B359-880C-4BF6-A74E-B17AF45B8157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Cytokinesis     D. 1 parent cell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608E857-D199-47A9-AA37-C98F70E1DF6F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0AEC01-4605-4F72-A7BA-C6987A8CFD0D}"/>
              </a:ext>
            </a:extLst>
          </p:cNvPr>
          <p:cNvSpPr>
            <a:spLocks noGrp="1"/>
          </p:cNvSpPr>
          <p:nvPr/>
        </p:nvSpPr>
        <p:spPr>
          <a:xfrm>
            <a:off x="64008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77. What structure at 77 holds sister chromatids together?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9A39F8-6B1E-4899-97C9-4299E9478F79}"/>
              </a:ext>
            </a:extLst>
          </p:cNvPr>
          <p:cNvSpPr>
            <a:spLocks noGrp="1"/>
          </p:cNvSpPr>
          <p:nvPr/>
        </p:nvSpPr>
        <p:spPr>
          <a:xfrm>
            <a:off x="65722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chromatid     B. 1 parent cell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682885-433A-427D-9A03-AD4908066A34}"/>
              </a:ext>
            </a:extLst>
          </p:cNvPr>
          <p:cNvSpPr>
            <a:spLocks noGrp="1"/>
          </p:cNvSpPr>
          <p:nvPr/>
        </p:nvSpPr>
        <p:spPr>
          <a:xfrm>
            <a:off x="65722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centromere     D. spindle apparatus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31CD7E-9FF7-4023-9487-D22A5F9583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station-22-question-card-1">
            <a:extLst>
              <a:ext uri="{FF2B5EF4-FFF2-40B4-BE49-F238E27FC236}">
                <a16:creationId xmlns:a16="http://schemas.microsoft.com/office/drawing/2014/main" id="{5DEE90DE-B78F-499E-BF38-DE80158642B5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2" name="station-22-question-card-2">
            <a:extLst>
              <a:ext uri="{FF2B5EF4-FFF2-40B4-BE49-F238E27FC236}">
                <a16:creationId xmlns:a16="http://schemas.microsoft.com/office/drawing/2014/main" id="{66856791-315B-486F-8DFB-4FFC20E97D9A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3" name="station-22-question-card-3">
            <a:extLst>
              <a:ext uri="{FF2B5EF4-FFF2-40B4-BE49-F238E27FC236}">
                <a16:creationId xmlns:a16="http://schemas.microsoft.com/office/drawing/2014/main" id="{6A8649D4-4256-44C2-8020-2D63C9E245F4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4" name="station-22-question-card-4">
            <a:extLst>
              <a:ext uri="{FF2B5EF4-FFF2-40B4-BE49-F238E27FC236}">
                <a16:creationId xmlns:a16="http://schemas.microsoft.com/office/drawing/2014/main" id="{06480CFB-7D7E-4AB8-82D9-AC88D473C204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683616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135E760-70FC-46F4-B41B-EB61525C0542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600806-797A-49DF-80B3-02F74EFA1229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23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028796-2247-4007-AECA-AD5DEAE214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F24C3E-EA1F-4683-91E3-3B6BABC22934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97"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78. Which apparatus at 78 moves chromosomes during division?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3A4F9-801E-4D7C-BD6A-C660E48948E0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spindle apparatus     B. centromere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A59968-3A46-4548-83D0-677B0B509FA3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chromatid     D. Cytokinesis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08425D34-0145-432F-B63E-4B3ADBAB13E0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509717-7158-4DCE-8E3C-89D3032ADDBD}"/>
              </a:ext>
            </a:extLst>
          </p:cNvPr>
          <p:cNvSpPr>
            <a:spLocks noGrp="1"/>
          </p:cNvSpPr>
          <p:nvPr/>
        </p:nvSpPr>
        <p:spPr>
          <a:xfrm>
            <a:off x="64008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79. The outcome indicated by 79 is: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3A72CB-1D4B-4D18-A33E-C62CA14878E7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1 parent cell     B. Interphase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149F19-EAC4-4F5D-84F8-6FC10F01FEA6}"/>
              </a:ext>
            </a:extLst>
          </p:cNvPr>
          <p:cNvSpPr>
            <a:spLocks noGrp="1"/>
          </p:cNvSpPr>
          <p:nvPr/>
        </p:nvSpPr>
        <p:spPr>
          <a:xfrm>
            <a:off x="65722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prophase     D. two daughter cells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B57F115C-DFF7-4AA9-B32A-96762DAFBAE9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D6BEE8-6D17-45B4-A11D-6994BF3760F0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80. Which process at 80 divides the nucleus?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0BFBB-C3E8-4941-A565-17FCA1E8DAF6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Cytokinesis     B. Interphase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CC1CC6-F903-43A6-A5CF-152CD4E2DB72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metaphase     D. Mitosis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4352B94-0C26-4471-824A-5FF7460A4722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907A87-D343-4B14-88FA-32027688DD06}"/>
              </a:ext>
            </a:extLst>
          </p:cNvPr>
          <p:cNvSpPr>
            <a:spLocks noGrp="1"/>
          </p:cNvSpPr>
          <p:nvPr/>
        </p:nvSpPr>
        <p:spPr>
          <a:xfrm>
            <a:off x="64008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81. The original dividing cell at label 81 is the: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38EE0A-DD0A-4104-9F2E-6A1189C32145}"/>
              </a:ext>
            </a:extLst>
          </p:cNvPr>
          <p:cNvSpPr>
            <a:spLocks noGrp="1"/>
          </p:cNvSpPr>
          <p:nvPr/>
        </p:nvSpPr>
        <p:spPr>
          <a:xfrm>
            <a:off x="65722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parent cell     B. Mitosis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0597F6-6534-45E2-87AD-50CE9B3B08F6}"/>
              </a:ext>
            </a:extLst>
          </p:cNvPr>
          <p:cNvSpPr>
            <a:spLocks noGrp="1"/>
          </p:cNvSpPr>
          <p:nvPr/>
        </p:nvSpPr>
        <p:spPr>
          <a:xfrm>
            <a:off x="65722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Interphase     D. 2 daughter cells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725EE0-F0EF-410F-8032-007AE1FF03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station-23-question-card-1">
            <a:extLst>
              <a:ext uri="{FF2B5EF4-FFF2-40B4-BE49-F238E27FC236}">
                <a16:creationId xmlns:a16="http://schemas.microsoft.com/office/drawing/2014/main" id="{87F5128B-0C4D-45DA-AA04-332AB779483F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2" name="station-23-question-card-2">
            <a:extLst>
              <a:ext uri="{FF2B5EF4-FFF2-40B4-BE49-F238E27FC236}">
                <a16:creationId xmlns:a16="http://schemas.microsoft.com/office/drawing/2014/main" id="{1C0B2ED8-150C-48A4-84E3-A8171E7E0920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3" name="station-23-question-card-3">
            <a:extLst>
              <a:ext uri="{FF2B5EF4-FFF2-40B4-BE49-F238E27FC236}">
                <a16:creationId xmlns:a16="http://schemas.microsoft.com/office/drawing/2014/main" id="{47369FAB-ABB3-4C70-B5D3-052ADFFE8EEA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station-23-question-card-4">
            <a:extLst>
              <a:ext uri="{FF2B5EF4-FFF2-40B4-BE49-F238E27FC236}">
                <a16:creationId xmlns:a16="http://schemas.microsoft.com/office/drawing/2014/main" id="{38F25A68-5D19-4EB5-9FE0-B2914C14EC37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203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DBAB837-82F1-461D-93D8-0B4BBC0AEF9B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317BB3-AE68-4186-AAE1-AE68846495A3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24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2AA7BD-6CFD-42B7-8BE5-7B5676989D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216A63-81B4-4C12-90BD-A407DFA8E3B0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97"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82. Which movement through a membrane is illustrated at label 82?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EEFFB8-3F85-4A88-8D1E-0037D1F27922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diffusion     B. filtration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33FC35-F7F7-4BE0-9E25-5019D3A84115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osmosis     D. hypotonic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E91BAB1-3253-480F-9753-310144E75EA4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DF1CB7-F291-4837-B40D-696AA5A9E827}"/>
              </a:ext>
            </a:extLst>
          </p:cNvPr>
          <p:cNvSpPr>
            <a:spLocks noGrp="1"/>
          </p:cNvSpPr>
          <p:nvPr/>
        </p:nvSpPr>
        <p:spPr>
          <a:xfrm>
            <a:off x="6400800" y="15049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83. Which solution condition at 83 leaves a red blood cell unchanged?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7F6AE2-77DB-4B37-B0E8-AD65A60E3F3B}"/>
              </a:ext>
            </a:extLst>
          </p:cNvPr>
          <p:cNvSpPr>
            <a:spLocks noGrp="1"/>
          </p:cNvSpPr>
          <p:nvPr/>
        </p:nvSpPr>
        <p:spPr>
          <a:xfrm>
            <a:off x="6572250" y="23431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isotonic solution     B. hypertonic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70EB69-5CE1-433A-8C56-0EBC1F3E55D3}"/>
              </a:ext>
            </a:extLst>
          </p:cNvPr>
          <p:cNvSpPr>
            <a:spLocks noGrp="1"/>
          </p:cNvSpPr>
          <p:nvPr/>
        </p:nvSpPr>
        <p:spPr>
          <a:xfrm>
            <a:off x="6572250" y="2667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lysis     D. hypotonic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03CC1A7-FE1E-4C2D-9E62-7F8D44064227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B0604A-2FDA-4E93-82C3-EAAE909C0776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84. What process at 84 is the diffusion of water across a selective membrane?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1A46F1-EEAA-470F-BF98-F593A31EB165}"/>
              </a:ext>
            </a:extLst>
          </p:cNvPr>
          <p:cNvSpPr>
            <a:spLocks noGrp="1"/>
          </p:cNvSpPr>
          <p:nvPr/>
        </p:nvSpPr>
        <p:spPr>
          <a:xfrm>
            <a:off x="895350" y="48196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osmosis     B. filtration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1CB845-6A2D-4E42-B77A-83B08728145C}"/>
              </a:ext>
            </a:extLst>
          </p:cNvPr>
          <p:cNvSpPr>
            <a:spLocks noGrp="1"/>
          </p:cNvSpPr>
          <p:nvPr/>
        </p:nvSpPr>
        <p:spPr>
          <a:xfrm>
            <a:off x="895350" y="5143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diffusion     D. hypertonic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97D8DE40-87B7-4060-9CEA-56E4137D5A69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F9CB31-09FC-41D6-B202-B09D4B15576A}"/>
              </a:ext>
            </a:extLst>
          </p:cNvPr>
          <p:cNvSpPr>
            <a:spLocks noGrp="1"/>
          </p:cNvSpPr>
          <p:nvPr/>
        </p:nvSpPr>
        <p:spPr>
          <a:xfrm>
            <a:off x="6400800" y="398145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85. Which movement from high to low concentration is indicated at 85?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AEE5BA-B041-416E-9954-EDBE418B644C}"/>
              </a:ext>
            </a:extLst>
          </p:cNvPr>
          <p:cNvSpPr>
            <a:spLocks noGrp="1"/>
          </p:cNvSpPr>
          <p:nvPr/>
        </p:nvSpPr>
        <p:spPr>
          <a:xfrm>
            <a:off x="6572250" y="48196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osmosis     B. isotonic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9BAD74-E78C-4B91-A0A5-51E51E928143}"/>
              </a:ext>
            </a:extLst>
          </p:cNvPr>
          <p:cNvSpPr>
            <a:spLocks noGrp="1"/>
          </p:cNvSpPr>
          <p:nvPr/>
        </p:nvSpPr>
        <p:spPr>
          <a:xfrm>
            <a:off x="6572250" y="5143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filtration     D. diffusion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4D6EC3-0B5E-46F6-B907-8E39844474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station-24-question-card-1">
            <a:extLst>
              <a:ext uri="{FF2B5EF4-FFF2-40B4-BE49-F238E27FC236}">
                <a16:creationId xmlns:a16="http://schemas.microsoft.com/office/drawing/2014/main" id="{DB96E5E7-AEEC-49D5-82F6-A6BBA4030534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2" name="station-24-question-card-2">
            <a:extLst>
              <a:ext uri="{FF2B5EF4-FFF2-40B4-BE49-F238E27FC236}">
                <a16:creationId xmlns:a16="http://schemas.microsoft.com/office/drawing/2014/main" id="{8743D9A9-9EE8-4E19-AD0F-CA6EF1B6C2E8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3" name="station-24-question-card-3">
            <a:extLst>
              <a:ext uri="{FF2B5EF4-FFF2-40B4-BE49-F238E27FC236}">
                <a16:creationId xmlns:a16="http://schemas.microsoft.com/office/drawing/2014/main" id="{9831A608-6605-4BF5-BD7C-5A77C1496006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station-24-question-card-4">
            <a:extLst>
              <a:ext uri="{FF2B5EF4-FFF2-40B4-BE49-F238E27FC236}">
                <a16:creationId xmlns:a16="http://schemas.microsoft.com/office/drawing/2014/main" id="{C4765C6F-4145-43FF-B3FC-514352C8D2CE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07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4E605BE-4E45-4933-B4F2-FF7630E99A5D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D9DFD6-760F-4F9D-857C-8920757DE759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609F37-642B-4731-82D4-8CD25BEC3D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5F6385-5BCD-410F-92E4-1130B3E5F68D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86. Which solution at 86 causes a red blood cell to swell?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07A517-2CED-4535-9109-80BF0D879AC6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crenation     B. isotonic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B4BD32-1D71-4873-8DA8-65C3AF49039E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hypertonic     D. hypotonic solution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872A8DC-F038-4446-917F-F5E4A91EE8C1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EF36ED-435D-413A-9270-6E02EE77FC1F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87. What is the shrinkage shown at label 87 called?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697CC1-45F6-4D2C-B43E-A8AF53AC270B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lysis     B. filtration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B0A13B-843F-4233-8463-F4C761712B1F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crenation     D. diffusion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DAEEEF0F-884F-468D-81EB-200B6680C519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0FF5AE-BA64-4631-9540-679C0E47865F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88. Which solution condition at 88 causes the cell to lose water?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FEF910-3229-47D0-A83F-04D84F116766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isotonic     B. hypotonic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C01B82-E265-42A1-8D29-11386970EC1B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lysis     D. hypertonic solution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AC2729-7B9D-4617-BB4E-B36249F271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7" name="station-25-question-card-1">
            <a:extLst>
              <a:ext uri="{FF2B5EF4-FFF2-40B4-BE49-F238E27FC236}">
                <a16:creationId xmlns:a16="http://schemas.microsoft.com/office/drawing/2014/main" id="{F0EAB7AA-8DD6-4D8D-AD9C-C1C30750FD85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8" name="station-25-question-card-2">
            <a:extLst>
              <a:ext uri="{FF2B5EF4-FFF2-40B4-BE49-F238E27FC236}">
                <a16:creationId xmlns:a16="http://schemas.microsoft.com/office/drawing/2014/main" id="{45E33841-ECF9-420D-8B2A-B79D18F538FD}"/>
              </a:ext>
            </a:extLst>
          </p:cNvPr>
          <p:cNvSpPr>
            <a:spLocks noGrp="1"/>
          </p:cNvSpPr>
          <p:nvPr/>
        </p:nvSpPr>
        <p:spPr>
          <a:xfrm>
            <a:off x="533400" y="306705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9" name="station-25-question-card-3">
            <a:extLst>
              <a:ext uri="{FF2B5EF4-FFF2-40B4-BE49-F238E27FC236}">
                <a16:creationId xmlns:a16="http://schemas.microsoft.com/office/drawing/2014/main" id="{E26D4ADC-99E5-429E-835B-611AA049951A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2296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DBF1056-128F-42D8-8756-23925A05A784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8D8C8B-4E4D-483D-AABA-A8606442BC15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DEE52-C88A-472D-AB4B-E99BCDC880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3DB0A9-F3C5-4FE3-84A5-A4837BB1A784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89. Which epithelial tissue at 8</a:t>
            </a:r>
            <a:r>
              <a:rPr lang="en-US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</a:t>
            </a:r>
            <a:r>
              <a:rPr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004336-1D54-42E8-8623-B606648E0948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simple cuboidal epithelium     B. pseudostratified columnar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263CE-549A-4CCB-86BF-82ED9D24445F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transitional     D. simple squamous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0443B32-998A-4811-A777-8527F1814839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811868-0344-4134-BA7B-563F8FAB7F9F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90. Which protective</a:t>
            </a:r>
            <a:r>
              <a:rPr lang="en-US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epithelium is indicated by 90?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1FB952-7DE5-41BD-BFE0-92BA45C53831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simple columnar     B. simple squamous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395655-3498-4E91-81C9-C0B3C0B37459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stratified squamous epithelium     D. transitional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50CB403-CE87-4840-AB6E-901D6DD203A1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A2E896-8B19-4449-8805-CD0057AB6B08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91. Which thin epithelium at 91 is specialized for diffusion?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957D29-F474-477F-A269-06616C5516CC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simple squamous epithelium     B. simple columnar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1AC36A-E967-4E1F-8CF3-6D3717F4ACDC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stratified squamous     D. simple cuboidal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6298A4-26C6-43C8-98BB-75A70B2265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7" name="station-26-question-card-1">
            <a:extLst>
              <a:ext uri="{FF2B5EF4-FFF2-40B4-BE49-F238E27FC236}">
                <a16:creationId xmlns:a16="http://schemas.microsoft.com/office/drawing/2014/main" id="{4893D678-897B-40A6-8A82-95E5E33FB321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8" name="station-26-question-card-2">
            <a:extLst>
              <a:ext uri="{FF2B5EF4-FFF2-40B4-BE49-F238E27FC236}">
                <a16:creationId xmlns:a16="http://schemas.microsoft.com/office/drawing/2014/main" id="{6E86B406-1362-4AEF-B364-3324F98AD93E}"/>
              </a:ext>
            </a:extLst>
          </p:cNvPr>
          <p:cNvSpPr>
            <a:spLocks noGrp="1"/>
          </p:cNvSpPr>
          <p:nvPr/>
        </p:nvSpPr>
        <p:spPr>
          <a:xfrm>
            <a:off x="533400" y="306705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9" name="station-26-question-card-3">
            <a:extLst>
              <a:ext uri="{FF2B5EF4-FFF2-40B4-BE49-F238E27FC236}">
                <a16:creationId xmlns:a16="http://schemas.microsoft.com/office/drawing/2014/main" id="{48C9D43C-B57D-4C6F-9C92-B0BF0E1ECAE1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79216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E2BC62D-195E-4D8D-9FC2-8E846EBCF139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44CC4E-D586-4AEC-9F29-6BE9CC42E393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27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2E7BF7-B926-449C-8BAD-F1B323D549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3E4620-B9D8-4F61-A288-F5831F73EA32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92. Which epithelium at 92?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FCE6D1-AA7D-4BF5-BF13-CED34BCFD977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simple cuboidal     B. stratified squamous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1849D-A7FB-460C-9244-1C7BC6A353E5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pseudostratified columnar     D. simple columnar epithelium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AF829655-66D9-4991-9BFF-D0BD2D98A220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C88C6F-19FE-4085-BFA6-7B9BCF7F0C91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93. Which stretchable epithelium is shown at label 93?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435883-68F5-4614-98E9-847B04FF9C68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transitional epithelium     B. simple squamous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6FE21B-0C15-4ECE-B37F-EDC9BBAF72E8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simple cuboidal     D. stratified squamous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A708AA3-ADA9-4DED-8631-6487FE232666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FDDEB6-44C2-46FB-AAFD-80FCEA27C61E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94. Which tissue at 94 only appears to be layered?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8722A2-D4F6-4E3D-A781-E9ECFE999EAF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simple columnar     B. transitional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A0959E-E0BE-4B9E-AE97-D48C71F0B5CD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simple squamous     D. pseudostratified columnar epithelium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0B70ED-8B6D-4C21-80E7-A31AC7FBA0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7" name="station-27-question-card-1">
            <a:extLst>
              <a:ext uri="{FF2B5EF4-FFF2-40B4-BE49-F238E27FC236}">
                <a16:creationId xmlns:a16="http://schemas.microsoft.com/office/drawing/2014/main" id="{E3CC9B1E-B0FD-499E-A933-BB4DF3B220B0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8" name="station-27-question-card-2">
            <a:extLst>
              <a:ext uri="{FF2B5EF4-FFF2-40B4-BE49-F238E27FC236}">
                <a16:creationId xmlns:a16="http://schemas.microsoft.com/office/drawing/2014/main" id="{43D8B901-1637-4B9D-8E19-193D9FEA4554}"/>
              </a:ext>
            </a:extLst>
          </p:cNvPr>
          <p:cNvSpPr>
            <a:spLocks noGrp="1"/>
          </p:cNvSpPr>
          <p:nvPr/>
        </p:nvSpPr>
        <p:spPr>
          <a:xfrm>
            <a:off x="533400" y="306705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19" name="station-27-question-card-3">
            <a:extLst>
              <a:ext uri="{FF2B5EF4-FFF2-40B4-BE49-F238E27FC236}">
                <a16:creationId xmlns:a16="http://schemas.microsoft.com/office/drawing/2014/main" id="{C8F0B11B-B5C8-4794-861C-9981851B9176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579240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012386F-BD57-4923-A7B1-313CDFDB60DE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D6EB6A-23AE-41D1-8C67-B1976199986E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28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51C1B6-A2E7-4AD5-8726-3F3AAFCCD3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984EA5-33E1-4A68-823F-14C372BBC8D4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95. Which rigid connective tissue is indicated by 95?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17E4F0-645A-45D6-A936-240C7C553DE5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osseous tissue (bone)     B. Reticular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5D595E-7D7B-4898-8DA1-86F643EB8AD4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Hyaline cartilage     D. Blood (vascular)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224D654-6C54-4E35-99C7-65CD98C9B4E9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05B5D6-7C55-4A16-8FD6-8B24D653ED91}"/>
              </a:ext>
            </a:extLst>
          </p:cNvPr>
          <p:cNvSpPr>
            <a:spLocks noGrp="1"/>
          </p:cNvSpPr>
          <p:nvPr/>
        </p:nvSpPr>
        <p:spPr>
          <a:xfrm>
            <a:off x="64008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96. Which energy-storing connective tissue is marked 96?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4EC0CA-B5E9-4852-A553-EA563A42B4B1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Fibroblasts     B. osteocyte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BD9F30-9816-4CBE-B60C-14AE7737D707}"/>
              </a:ext>
            </a:extLst>
          </p:cNvPr>
          <p:cNvSpPr>
            <a:spLocks noGrp="1"/>
          </p:cNvSpPr>
          <p:nvPr/>
        </p:nvSpPr>
        <p:spPr>
          <a:xfrm>
            <a:off x="65722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adipose tissue     D. Collagen fibers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1B7C46E-38C7-4CFD-BBDD-E619AF1C8D94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BB4249-4BEF-43A8-A836-344FE7360765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97. Which tissue at 97 provides a smooth surface in joints?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F9390E-5088-45AA-9712-7F5A094215B5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Dense regular     B. Elastic fibers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BF4169-2B7D-4368-B015-566DDF90D29E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hyaline cartilage     D. RBC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76E02AA5-3337-4832-8F94-8E2C6E80E225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296ED0-B574-497B-ACC8-CCF85F359E18}"/>
              </a:ext>
            </a:extLst>
          </p:cNvPr>
          <p:cNvSpPr>
            <a:spLocks noGrp="1"/>
          </p:cNvSpPr>
          <p:nvPr/>
        </p:nvSpPr>
        <p:spPr>
          <a:xfrm>
            <a:off x="64008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98. Which connective tissue at 98 has a fluid matrix?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BAF1FD-15DC-4EA5-9710-1288386CAE37}"/>
              </a:ext>
            </a:extLst>
          </p:cNvPr>
          <p:cNvSpPr>
            <a:spLocks noGrp="1"/>
          </p:cNvSpPr>
          <p:nvPr/>
        </p:nvSpPr>
        <p:spPr>
          <a:xfrm>
            <a:off x="65722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Loose (areolar)     B. Dense regular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04290D-7ACE-4BAC-BB1E-F6C4C97524FB}"/>
              </a:ext>
            </a:extLst>
          </p:cNvPr>
          <p:cNvSpPr>
            <a:spLocks noGrp="1"/>
          </p:cNvSpPr>
          <p:nvPr/>
        </p:nvSpPr>
        <p:spPr>
          <a:xfrm>
            <a:off x="65722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blood (vascular tissue)     D. Adipose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13C46F-5F4F-4F39-84EA-59DE07D1B1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station-28-question-card-1">
            <a:extLst>
              <a:ext uri="{FF2B5EF4-FFF2-40B4-BE49-F238E27FC236}">
                <a16:creationId xmlns:a16="http://schemas.microsoft.com/office/drawing/2014/main" id="{938F5A8D-E4EE-487F-8471-859A52BE600A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2" name="station-28-question-card-2">
            <a:extLst>
              <a:ext uri="{FF2B5EF4-FFF2-40B4-BE49-F238E27FC236}">
                <a16:creationId xmlns:a16="http://schemas.microsoft.com/office/drawing/2014/main" id="{A0DC6E8F-2F11-46D5-ABE2-DE2F43F4F4F1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3" name="station-28-question-card-3">
            <a:extLst>
              <a:ext uri="{FF2B5EF4-FFF2-40B4-BE49-F238E27FC236}">
                <a16:creationId xmlns:a16="http://schemas.microsoft.com/office/drawing/2014/main" id="{C6C3F60A-3736-4F44-8010-42520C6279C2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4" name="station-28-question-card-4">
            <a:extLst>
              <a:ext uri="{FF2B5EF4-FFF2-40B4-BE49-F238E27FC236}">
                <a16:creationId xmlns:a16="http://schemas.microsoft.com/office/drawing/2014/main" id="{AD6569A3-6400-473E-A63D-A81498108524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688582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17A8E03-30BF-4903-885E-9A22E70F6CE3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45B46-CE63-442A-8276-698926E2ACF5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29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EFDA0A-33C5-4769-8151-CEB69B82D8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BB1087-E17F-401F-8706-F930446E8898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99. Which tendon-associated tissue is shown at 99?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EB4BB0-CD24-48C8-A9FD-B41F319839B2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Loose (areolar)     B. Reticular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04B214-064F-4CA4-B207-3AA8AEB58052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dense regular connective tissue     D. Elastic fibers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AA88312-48F9-4497-988B-EDF83CD988B1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022A93-3E32-4B1A-B4E2-7B62B88B310B}"/>
              </a:ext>
            </a:extLst>
          </p:cNvPr>
          <p:cNvSpPr>
            <a:spLocks noGrp="1"/>
          </p:cNvSpPr>
          <p:nvPr/>
        </p:nvSpPr>
        <p:spPr>
          <a:xfrm>
            <a:off x="6400800" y="15049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100. Which mature cartilage cell is indicated by 100?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C55FA2-6D0E-4172-A285-999F9BEE328D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chondrocyte     B. osteocyte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D39812-1919-4896-B10C-2FC719486EF2}"/>
              </a:ext>
            </a:extLst>
          </p:cNvPr>
          <p:cNvSpPr>
            <a:spLocks noGrp="1"/>
          </p:cNvSpPr>
          <p:nvPr/>
        </p:nvSpPr>
        <p:spPr>
          <a:xfrm>
            <a:off x="6572250" y="24193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platelets     D. Reticular fibers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30FBBFA-62B8-4A3A-8F91-AFDF23B693CE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4898B0-13C7-4CCC-8D64-C884638EA3B4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101. Which cell fragments at 101 are essential for clotting?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70E3A6-1F1A-4E59-9EA3-03731E2E1C05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platelets     B. RBC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61F403-48FF-4A3E-8902-1077256071ED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Collagen fibers     D. WBC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933C829E-5712-4190-8F3F-1D2CB75AD1D7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09496C-6022-4EFD-B4F2-2D0A109206A7}"/>
              </a:ext>
            </a:extLst>
          </p:cNvPr>
          <p:cNvSpPr>
            <a:spLocks noGrp="1"/>
          </p:cNvSpPr>
          <p:nvPr/>
        </p:nvSpPr>
        <p:spPr>
          <a:xfrm>
            <a:off x="6400800" y="3981450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102. Which mature bone cell is located at 102?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69516A-DB1A-4C88-B324-081E969DAC4F}"/>
              </a:ext>
            </a:extLst>
          </p:cNvPr>
          <p:cNvSpPr>
            <a:spLocks noGrp="1"/>
          </p:cNvSpPr>
          <p:nvPr/>
        </p:nvSpPr>
        <p:spPr>
          <a:xfrm>
            <a:off x="6572250" y="45720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WBC     B. osteocyte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6985E7-648E-49F9-8EB7-9EC386732DAF}"/>
              </a:ext>
            </a:extLst>
          </p:cNvPr>
          <p:cNvSpPr>
            <a:spLocks noGrp="1"/>
          </p:cNvSpPr>
          <p:nvPr/>
        </p:nvSpPr>
        <p:spPr>
          <a:xfrm>
            <a:off x="6572250" y="489585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Fibroblasts     D. chondrocyte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4282BF-0AC9-466A-9BBF-09A635D203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" name="station-29-question-card-1">
            <a:extLst>
              <a:ext uri="{FF2B5EF4-FFF2-40B4-BE49-F238E27FC236}">
                <a16:creationId xmlns:a16="http://schemas.microsoft.com/office/drawing/2014/main" id="{DAD78F45-5F3F-4A9C-B560-96B7F35F243F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2" name="station-29-question-card-2">
            <a:extLst>
              <a:ext uri="{FF2B5EF4-FFF2-40B4-BE49-F238E27FC236}">
                <a16:creationId xmlns:a16="http://schemas.microsoft.com/office/drawing/2014/main" id="{D4D75BA9-01B7-4583-9D3F-F4684082BC90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3" name="station-29-question-card-3">
            <a:extLst>
              <a:ext uri="{FF2B5EF4-FFF2-40B4-BE49-F238E27FC236}">
                <a16:creationId xmlns:a16="http://schemas.microsoft.com/office/drawing/2014/main" id="{6471015B-6412-43F2-BBBF-D08F248590F9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  <p:sp>
        <p:nvSpPr>
          <p:cNvPr id="24" name="station-29-question-card-4">
            <a:extLst>
              <a:ext uri="{FF2B5EF4-FFF2-40B4-BE49-F238E27FC236}">
                <a16:creationId xmlns:a16="http://schemas.microsoft.com/office/drawing/2014/main" id="{B5CF68EB-F06E-4CA2-8E8E-89A72F9C45EC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5448300" cy="2266950"/>
          </a:xfrm>
          <a:prstGeom prst="roundRect">
            <a:avLst>
              <a:gd name="adj" fmla="val 7563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0238385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62AF48-C73D-4015-B1BA-CAA0FA2C7158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11353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E6104C-A7ED-4179-9483-009C0D939A01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896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STATION 30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6DE1D1-0803-45AA-BE92-42881AF1AE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AE05B5-DA54-4EDA-90D1-A7D4A294BEB0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103. Which involuntary muscle tissue at 103?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4F3DBE-1FEF-4575-BC94-E8AC29259DFA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skeletal     B. cardiac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F196B5-4A79-446E-97BF-11696274405B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smooth muscle tissue     D. stratified squamous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03E3A462-9F97-4F30-876B-7CDD6582E4BE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31DEEA-05EB-4E0B-8FB1-16C26045907B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104. Which involuntary muscle tissue at 104 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335A70-A336-4BE8-8F13-22B6C5F91AAB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smooth     B. cardiac muscle tissue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677B24-3AB0-4FE3-B3BA-3CD2F7D48988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skeletal     D. neuroglia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15D913E-68E5-4E1F-9307-431D24210385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9525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A8CC6B-37DC-47F0-ADC3-502D4BC30937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744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105. Which voluntary</a:t>
            </a:r>
            <a:r>
              <a:rPr lang="en-US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muscle tissue is indicated by 105?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2349E5-A024-45A2-910B-F3B6B3980349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A. cardiac     B. smooth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A4C914-2304-4F5F-A2BC-2B1BC8772A03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C. skeletal muscle tissue     D. transitional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C38303-8655-43FC-86B0-1AC88AB508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7" name="station-30-question-card-1">
            <a:extLst>
              <a:ext uri="{FF2B5EF4-FFF2-40B4-BE49-F238E27FC236}">
                <a16:creationId xmlns:a16="http://schemas.microsoft.com/office/drawing/2014/main" id="{ED2ADE3D-18B4-440E-BCD9-1C20A6963D7E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400"/>
          </a:p>
        </p:txBody>
      </p:sp>
      <p:sp>
        <p:nvSpPr>
          <p:cNvPr id="18" name="station-30-question-card-2">
            <a:extLst>
              <a:ext uri="{FF2B5EF4-FFF2-40B4-BE49-F238E27FC236}">
                <a16:creationId xmlns:a16="http://schemas.microsoft.com/office/drawing/2014/main" id="{7E682C22-61E5-476E-AB0F-2F75B14BDA51}"/>
              </a:ext>
            </a:extLst>
          </p:cNvPr>
          <p:cNvSpPr>
            <a:spLocks noGrp="1"/>
          </p:cNvSpPr>
          <p:nvPr/>
        </p:nvSpPr>
        <p:spPr>
          <a:xfrm>
            <a:off x="533400" y="306705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400"/>
          </a:p>
        </p:txBody>
      </p:sp>
      <p:sp>
        <p:nvSpPr>
          <p:cNvPr id="19" name="station-30-question-card-3">
            <a:extLst>
              <a:ext uri="{FF2B5EF4-FFF2-40B4-BE49-F238E27FC236}">
                <a16:creationId xmlns:a16="http://schemas.microsoft.com/office/drawing/2014/main" id="{4B821DBC-2B65-47C7-B020-C7249285F7FC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11125200" cy="1466850"/>
          </a:xfrm>
          <a:prstGeom prst="roundRect">
            <a:avLst>
              <a:gd name="adj" fmla="val 11688"/>
            </a:avLst>
          </a:prstGeom>
          <a:noFill/>
          <a:ln w="14288">
            <a:solidFill>
              <a:srgbClr val="B8C7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808969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2987</Words>
  <Application>Microsoft Office PowerPoint</Application>
  <DocSecurity>0</DocSecurity>
  <PresentationFormat>Widescreen</PresentationFormat>
  <Paragraphs>345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Victor Garcia</cp:lastModifiedBy>
  <cp:revision>1</cp:revision>
  <dcterms:created xsi:type="dcterms:W3CDTF">2026-08-12T01:45:07Z</dcterms:created>
  <dcterms:modified xsi:type="dcterms:W3CDTF">2026-08-12T01:57:02Z</dcterms:modified>
</cp:coreProperties>
</file>